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0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300" b="0" i="0" u="none" strike="noStrike">
                <a:solidFill>
                  <a:srgbClr val="0F346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F3460"/>
                </a:solidFill>
                <a:latin typeface="Calibri"/>
              </a:rPr>
              <a:t>Subscription Price vs. Quantity</a:t>
            </a:r>
          </a:p>
        </c:rich>
      </c:tx>
      <c:layout>
        <c:manualLayout>
          <c:xMode val="edge"/>
          <c:yMode val="edge"/>
          <c:x val="0.32466"/>
          <c:y val="0"/>
          <c:w val="0.35067999999999999"/>
          <c:h val="8.6225499999999997E-2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9.1448000000000002E-2"/>
          <c:y val="8.6225499999999997E-2"/>
          <c:w val="0.90140799999999999"/>
          <c:h val="0.69796499999999995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 (willingness to pay)</c:v>
                </c:pt>
              </c:strCache>
            </c:strRef>
          </c:tx>
          <c:spPr>
            <a:ln w="38100" cap="flat">
              <a:solidFill>
                <a:srgbClr val="FFB84C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9.1999999999999993</c:v>
                </c:pt>
                <c:pt idx="1">
                  <c:v>7.4</c:v>
                </c:pt>
                <c:pt idx="2">
                  <c:v>6</c:v>
                </c:pt>
                <c:pt idx="3">
                  <c:v>4.8</c:v>
                </c:pt>
                <c:pt idx="4">
                  <c:v>3.8</c:v>
                </c:pt>
                <c:pt idx="5">
                  <c:v>3</c:v>
                </c:pt>
                <c:pt idx="6">
                  <c:v>2.4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1BD-4C82-9C41-62B1C386C6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Supply (low switching cost)</c:v>
                </c:pt>
              </c:strCache>
            </c:strRef>
          </c:tx>
          <c:spPr>
            <a:ln w="38100" cap="flat">
              <a:solidFill>
                <a:srgbClr val="16A98C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1.3</c:v>
                </c:pt>
                <c:pt idx="1">
                  <c:v>2.6</c:v>
                </c:pt>
                <c:pt idx="2">
                  <c:v>3.8</c:v>
                </c:pt>
                <c:pt idx="3">
                  <c:v>4.8</c:v>
                </c:pt>
                <c:pt idx="4">
                  <c:v>6</c:v>
                </c:pt>
                <c:pt idx="5">
                  <c:v>7.3</c:v>
                </c:pt>
                <c:pt idx="6">
                  <c:v>8.8000000000000007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1BD-4C82-9C41-62B1C386C6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000" b="0" i="0" u="none" strike="noStrike">
                    <a:solidFill>
                      <a:srgbClr val="6B7A9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7A90"/>
                    </a:solidFill>
                    <a:latin typeface="Arial"/>
                  </a:rPr>
                  <a:t>Quantity of Subscribers</a:t>
                </a:r>
              </a:p>
            </c:rich>
          </c:tx>
          <c:overlay val="1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7EF"/>
              </a:solidFill>
              <a:prstDash val="solid"/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000" b="0" i="0" u="none" strike="noStrike">
                    <a:solidFill>
                      <a:srgbClr val="6B7A9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7A90"/>
                    </a:solidFill>
                    <a:latin typeface="Arial"/>
                  </a:rPr>
                  <a:t>Price</a:t>
                </a:r>
              </a:p>
            </c:rich>
          </c:tx>
          <c:overlay val="1"/>
        </c:title>
        <c:numFmt formatCode="0.#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between"/>
        <c:majorUnit val="2.5"/>
        <c:minorUnit val="1.2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156303"/>
          <c:y val="0.94840400000000002"/>
          <c:w val="0.62868900000000005"/>
          <c:h val="5.1596000000000003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000" b="0" i="0" u="none" strike="noStrike">
              <a:solidFill>
                <a:srgbClr val="6B7A9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" Type="http://schemas.openxmlformats.org/officeDocument/2006/relationships/image" Target="../media/image29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7863840" y="-1463041"/>
            <a:ext cx="5852161" cy="5852162"/>
          </a:xfrm>
          <a:prstGeom prst="ellipse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" name="Shape 1"/>
          <p:cNvSpPr/>
          <p:nvPr/>
        </p:nvSpPr>
        <p:spPr>
          <a:xfrm>
            <a:off x="9052559" y="-274321"/>
            <a:ext cx="3566161" cy="3566162"/>
          </a:xfrm>
          <a:prstGeom prst="ellipse">
            <a:avLst/>
          </a:prstGeom>
          <a:ln w="28575">
            <a:solidFill>
              <a:srgbClr val="16A98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" name="Shape 2"/>
          <p:cNvSpPr/>
          <p:nvPr/>
        </p:nvSpPr>
        <p:spPr>
          <a:xfrm>
            <a:off x="9829799" y="502919"/>
            <a:ext cx="2011682" cy="2011682"/>
          </a:xfrm>
          <a:prstGeom prst="ellipse">
            <a:avLst/>
          </a:prstGeom>
          <a:ln w="28575">
            <a:solidFill>
              <a:srgbClr val="FFB84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" name="Text 4"/>
          <p:cNvSpPr txBox="1"/>
          <p:nvPr/>
        </p:nvSpPr>
        <p:spPr>
          <a:xfrm>
            <a:off x="605715" y="1222384"/>
            <a:ext cx="8503921" cy="1255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4600"/>
              </a:lnSpc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Why Are Subscription Business</a:t>
            </a:r>
          </a:p>
          <a:p>
            <a:pPr>
              <a:lnSpc>
                <a:spcPts val="4600"/>
              </a:lnSpc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Models So Successful?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677432" y="2770542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>
                <a:solidFill>
                  <a:srgbClr val="FFB8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An Economic Perspective</a:t>
            </a:r>
          </a:p>
        </p:txBody>
      </p:sp>
      <p:sp>
        <p:nvSpPr>
          <p:cNvPr id="25" name="Shape 6"/>
          <p:cNvSpPr/>
          <p:nvPr/>
        </p:nvSpPr>
        <p:spPr>
          <a:xfrm>
            <a:off x="691477" y="3742587"/>
            <a:ext cx="1005840" cy="1"/>
          </a:xfrm>
          <a:prstGeom prst="line">
            <a:avLst/>
          </a:prstGeom>
          <a:ln w="38100">
            <a:solidFill>
              <a:srgbClr val="16A98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" name="Text 7"/>
          <p:cNvSpPr txBox="1"/>
          <p:nvPr/>
        </p:nvSpPr>
        <p:spPr>
          <a:xfrm>
            <a:off x="677432" y="4272926"/>
            <a:ext cx="7223761" cy="1573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FFFFFF"/>
                </a:solidFill>
              </a:defRPr>
            </a:pPr>
            <a:r>
              <a:t>Md. Atik Ahsan Ayon (251-35-295)</a:t>
            </a:r>
          </a:p>
          <a:p>
            <a:pPr>
              <a:lnSpc>
                <a:spcPct val="150000"/>
              </a:lnSpc>
              <a:defRPr sz="1400">
                <a:solidFill>
                  <a:srgbClr val="FFFFFF"/>
                </a:solidFill>
              </a:defRPr>
            </a:pPr>
            <a:r>
              <a:t>Md. Imtiaz (251-35-480)</a:t>
            </a:r>
          </a:p>
          <a:p>
            <a:pPr>
              <a:lnSpc>
                <a:spcPct val="150000"/>
              </a:lnSpc>
              <a:defRPr sz="1400">
                <a:solidFill>
                  <a:srgbClr val="FFFFFF"/>
                </a:solidFill>
              </a:defRPr>
            </a:pPr>
            <a:r>
              <a:t>Md. Ekramul Hasan (251-35-304)</a:t>
            </a:r>
          </a:p>
          <a:p>
            <a:pPr>
              <a:lnSpc>
                <a:spcPct val="150000"/>
              </a:lnSpc>
              <a:defRPr sz="1400">
                <a:solidFill>
                  <a:srgbClr val="FFFFFF"/>
                </a:solidFill>
              </a:defRPr>
            </a:pPr>
            <a:r>
              <a:t>Zannatul Ferdous Mim (251-35-411)</a:t>
            </a:r>
          </a:p>
          <a:p>
            <a:pPr>
              <a:lnSpc>
                <a:spcPct val="150000"/>
              </a:lnSpc>
              <a:defRPr sz="1400">
                <a:solidFill>
                  <a:srgbClr val="FFFFFF"/>
                </a:solidFill>
              </a:defRPr>
            </a:pPr>
            <a:r>
              <a:t>Rafsan Uddin Chowdhury (251-35-382)</a:t>
            </a:r>
          </a:p>
        </p:txBody>
      </p:sp>
      <p:sp>
        <p:nvSpPr>
          <p:cNvPr id="27" name="Text 8"/>
          <p:cNvSpPr txBox="1"/>
          <p:nvPr/>
        </p:nvSpPr>
        <p:spPr>
          <a:xfrm>
            <a:off x="11597335" y="6469424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FA3BF"/>
                </a:solidFill>
              </a:defRPr>
            </a:lvl1pPr>
          </a:lstStyle>
          <a:p>
            <a:r>
              <a:t>01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685800" y="502919"/>
            <a:ext cx="81381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0F346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What We'll Cover</a:t>
            </a:r>
          </a:p>
        </p:txBody>
      </p:sp>
      <p:sp>
        <p:nvSpPr>
          <p:cNvPr id="30" name="Shape 2"/>
          <p:cNvSpPr/>
          <p:nvPr/>
        </p:nvSpPr>
        <p:spPr>
          <a:xfrm>
            <a:off x="640080" y="1737360"/>
            <a:ext cx="5074921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miter lim="400000"/>
          </a:ln>
          <a:effectLst>
            <a:outerShdw blurRad="127000" dist="38100" dir="5400000" rotWithShape="0">
              <a:srgbClr val="1A2942">
                <a:alpha val="1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1" name="Shape 3"/>
          <p:cNvSpPr/>
          <p:nvPr/>
        </p:nvSpPr>
        <p:spPr>
          <a:xfrm>
            <a:off x="960119" y="2057399"/>
            <a:ext cx="640081" cy="640082"/>
          </a:xfrm>
          <a:prstGeom prst="ellipse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30" y="2134210"/>
            <a:ext cx="486462" cy="486462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Text 5"/>
          <p:cNvSpPr txBox="1"/>
          <p:nvPr/>
        </p:nvSpPr>
        <p:spPr>
          <a:xfrm>
            <a:off x="1828799" y="2369312"/>
            <a:ext cx="3611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>
                <a:solidFill>
                  <a:srgbClr val="16213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Core Business Concept</a:t>
            </a:r>
          </a:p>
        </p:txBody>
      </p:sp>
      <p:sp>
        <p:nvSpPr>
          <p:cNvPr id="34" name="Text 6"/>
          <p:cNvSpPr txBox="1"/>
          <p:nvPr/>
        </p:nvSpPr>
        <p:spPr>
          <a:xfrm>
            <a:off x="1005839" y="2968752"/>
            <a:ext cx="4343402" cy="518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6B7A90"/>
                </a:solidFill>
              </a:defRPr>
            </a:lvl1pPr>
          </a:lstStyle>
          <a:p>
            <a:r>
              <a:t>Understand the subscription model as a modern business structure and revenue strategy.</a:t>
            </a:r>
          </a:p>
        </p:txBody>
      </p:sp>
      <p:sp>
        <p:nvSpPr>
          <p:cNvPr id="35" name="Shape 7"/>
          <p:cNvSpPr/>
          <p:nvPr/>
        </p:nvSpPr>
        <p:spPr>
          <a:xfrm>
            <a:off x="5989320" y="1737360"/>
            <a:ext cx="5074921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miter lim="400000"/>
          </a:ln>
          <a:effectLst>
            <a:outerShdw blurRad="127000" dist="38100" dir="5400000" rotWithShape="0">
              <a:srgbClr val="1A2942">
                <a:alpha val="1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" name="Shape 8"/>
          <p:cNvSpPr/>
          <p:nvPr/>
        </p:nvSpPr>
        <p:spPr>
          <a:xfrm>
            <a:off x="6309359" y="2057399"/>
            <a:ext cx="640081" cy="640082"/>
          </a:xfrm>
          <a:prstGeom prst="ellipse">
            <a:avLst/>
          </a:prstGeom>
          <a:solidFill>
            <a:srgbClr val="16A98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7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169" y="2134210"/>
            <a:ext cx="486462" cy="486462"/>
          </a:xfrm>
          <a:prstGeom prst="rect">
            <a:avLst/>
          </a:prstGeom>
          <a:ln w="12700">
            <a:miter lim="400000"/>
          </a:ln>
        </p:spPr>
      </p:pic>
      <p:sp>
        <p:nvSpPr>
          <p:cNvPr id="38" name="Text 10"/>
          <p:cNvSpPr txBox="1"/>
          <p:nvPr/>
        </p:nvSpPr>
        <p:spPr>
          <a:xfrm>
            <a:off x="7178039" y="2369312"/>
            <a:ext cx="3611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>
                <a:solidFill>
                  <a:srgbClr val="16213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Supply, Demand &amp; Equilibrium</a:t>
            </a:r>
          </a:p>
        </p:txBody>
      </p:sp>
      <p:sp>
        <p:nvSpPr>
          <p:cNvPr id="39" name="Text 11"/>
          <p:cNvSpPr txBox="1"/>
          <p:nvPr/>
        </p:nvSpPr>
        <p:spPr>
          <a:xfrm>
            <a:off x="6355079" y="2968752"/>
            <a:ext cx="4343401" cy="518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6B7A90"/>
                </a:solidFill>
              </a:defRPr>
            </a:lvl1pPr>
          </a:lstStyle>
          <a:p>
            <a:r>
              <a:t>Evaluate how economic theory — pricing, scale, and consumer behavior — explains its success.</a:t>
            </a:r>
          </a:p>
        </p:txBody>
      </p:sp>
      <p:sp>
        <p:nvSpPr>
          <p:cNvPr id="40" name="Text 12"/>
          <p:cNvSpPr txBox="1"/>
          <p:nvPr/>
        </p:nvSpPr>
        <p:spPr>
          <a:xfrm>
            <a:off x="685800" y="3990647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 spc="200">
                <a:solidFill>
                  <a:srgbClr val="0F3460"/>
                </a:solidFill>
              </a:defRPr>
            </a:lvl1pPr>
          </a:lstStyle>
          <a:p>
            <a:r>
              <a:t>AGENDA</a:t>
            </a:r>
          </a:p>
        </p:txBody>
      </p:sp>
      <p:sp>
        <p:nvSpPr>
          <p:cNvPr id="41" name="Shape 13"/>
          <p:cNvSpPr/>
          <p:nvPr/>
        </p:nvSpPr>
        <p:spPr>
          <a:xfrm>
            <a:off x="640080" y="4343400"/>
            <a:ext cx="2542033" cy="1783080"/>
          </a:xfrm>
          <a:prstGeom prst="roundRect">
            <a:avLst>
              <a:gd name="adj" fmla="val 5128"/>
            </a:avLst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" name="Shape 14"/>
          <p:cNvSpPr/>
          <p:nvPr/>
        </p:nvSpPr>
        <p:spPr>
          <a:xfrm>
            <a:off x="896111" y="4553711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3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1" y="4614062"/>
            <a:ext cx="382220" cy="382220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Text 15"/>
          <p:cNvSpPr txBox="1"/>
          <p:nvPr/>
        </p:nvSpPr>
        <p:spPr>
          <a:xfrm>
            <a:off x="2542031" y="4484369"/>
            <a:ext cx="45720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3B5C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01</a:t>
            </a:r>
          </a:p>
        </p:txBody>
      </p:sp>
      <p:sp>
        <p:nvSpPr>
          <p:cNvPr id="45" name="Text 16"/>
          <p:cNvSpPr txBox="1"/>
          <p:nvPr/>
        </p:nvSpPr>
        <p:spPr>
          <a:xfrm>
            <a:off x="941831" y="5341619"/>
            <a:ext cx="1993393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500"/>
              </a:lnSpc>
              <a:defRPr sz="1200" b="1">
                <a:solidFill>
                  <a:srgbClr val="FFFFFF"/>
                </a:solidFill>
              </a:defRPr>
            </a:pPr>
            <a:r>
              <a:t>What is a</a:t>
            </a:r>
          </a:p>
          <a:p>
            <a:pPr>
              <a:lnSpc>
                <a:spcPts val="1500"/>
              </a:lnSpc>
              <a:defRPr sz="1200" b="1">
                <a:solidFill>
                  <a:srgbClr val="FFFFFF"/>
                </a:solidFill>
              </a:defRPr>
            </a:pPr>
            <a:r>
              <a:t>Subscription Model?</a:t>
            </a:r>
          </a:p>
        </p:txBody>
      </p:sp>
      <p:sp>
        <p:nvSpPr>
          <p:cNvPr id="46" name="Shape 17"/>
          <p:cNvSpPr/>
          <p:nvPr/>
        </p:nvSpPr>
        <p:spPr>
          <a:xfrm>
            <a:off x="3410711" y="4343400"/>
            <a:ext cx="2542034" cy="1783080"/>
          </a:xfrm>
          <a:prstGeom prst="roundRect">
            <a:avLst>
              <a:gd name="adj" fmla="val 5128"/>
            </a:avLst>
          </a:prstGeom>
          <a:solidFill>
            <a:srgbClr val="16A98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" name="Shape 18"/>
          <p:cNvSpPr/>
          <p:nvPr/>
        </p:nvSpPr>
        <p:spPr>
          <a:xfrm>
            <a:off x="3666744" y="4553711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8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093" y="4614062"/>
            <a:ext cx="382220" cy="38222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 19"/>
          <p:cNvSpPr txBox="1"/>
          <p:nvPr/>
        </p:nvSpPr>
        <p:spPr>
          <a:xfrm>
            <a:off x="5312664" y="4484369"/>
            <a:ext cx="45720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5FC2A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02</a:t>
            </a:r>
          </a:p>
        </p:txBody>
      </p:sp>
      <p:sp>
        <p:nvSpPr>
          <p:cNvPr id="50" name="Text 20"/>
          <p:cNvSpPr txBox="1"/>
          <p:nvPr/>
        </p:nvSpPr>
        <p:spPr>
          <a:xfrm>
            <a:off x="3712463" y="5341619"/>
            <a:ext cx="1993394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500"/>
              </a:lnSpc>
              <a:defRPr sz="1200" b="1">
                <a:solidFill>
                  <a:srgbClr val="FFFFFF"/>
                </a:solidFill>
              </a:defRPr>
            </a:pPr>
            <a:r>
              <a:t>Key Economic</a:t>
            </a:r>
          </a:p>
          <a:p>
            <a:pPr>
              <a:lnSpc>
                <a:spcPts val="1500"/>
              </a:lnSpc>
              <a:defRPr sz="1200" b="1">
                <a:solidFill>
                  <a:srgbClr val="FFFFFF"/>
                </a:solidFill>
              </a:defRPr>
            </a:pPr>
            <a:r>
              <a:t>Concepts</a:t>
            </a:r>
          </a:p>
        </p:txBody>
      </p:sp>
      <p:sp>
        <p:nvSpPr>
          <p:cNvPr id="51" name="Shape 21"/>
          <p:cNvSpPr/>
          <p:nvPr/>
        </p:nvSpPr>
        <p:spPr>
          <a:xfrm>
            <a:off x="6181344" y="4343400"/>
            <a:ext cx="2542033" cy="1783080"/>
          </a:xfrm>
          <a:prstGeom prst="roundRect">
            <a:avLst>
              <a:gd name="adj" fmla="val 5128"/>
            </a:avLst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" name="Shape 22"/>
          <p:cNvSpPr/>
          <p:nvPr/>
        </p:nvSpPr>
        <p:spPr>
          <a:xfrm>
            <a:off x="6437376" y="4553711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3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725" y="4614062"/>
            <a:ext cx="382220" cy="38222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Text 23"/>
          <p:cNvSpPr txBox="1"/>
          <p:nvPr/>
        </p:nvSpPr>
        <p:spPr>
          <a:xfrm>
            <a:off x="8083296" y="4484369"/>
            <a:ext cx="45720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3B5C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03</a:t>
            </a:r>
          </a:p>
        </p:txBody>
      </p:sp>
      <p:sp>
        <p:nvSpPr>
          <p:cNvPr id="55" name="Text 24"/>
          <p:cNvSpPr txBox="1"/>
          <p:nvPr/>
        </p:nvSpPr>
        <p:spPr>
          <a:xfrm>
            <a:off x="6483096" y="5341619"/>
            <a:ext cx="1993393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500"/>
              </a:lnSpc>
              <a:defRPr sz="1200" b="1">
                <a:solidFill>
                  <a:srgbClr val="FFFFFF"/>
                </a:solidFill>
              </a:defRPr>
            </a:pPr>
            <a:r>
              <a:t>Real-World</a:t>
            </a:r>
          </a:p>
          <a:p>
            <a:pPr>
              <a:lnSpc>
                <a:spcPts val="1500"/>
              </a:lnSpc>
              <a:defRPr sz="1200" b="1">
                <a:solidFill>
                  <a:srgbClr val="FFFFFF"/>
                </a:solidFill>
              </a:defRPr>
            </a:pPr>
            <a:r>
              <a:t>Example</a:t>
            </a:r>
          </a:p>
        </p:txBody>
      </p:sp>
      <p:sp>
        <p:nvSpPr>
          <p:cNvPr id="56" name="Shape 25"/>
          <p:cNvSpPr/>
          <p:nvPr/>
        </p:nvSpPr>
        <p:spPr>
          <a:xfrm>
            <a:off x="8951976" y="4343400"/>
            <a:ext cx="2542033" cy="1783080"/>
          </a:xfrm>
          <a:prstGeom prst="roundRect">
            <a:avLst>
              <a:gd name="adj" fmla="val 5128"/>
            </a:avLst>
          </a:prstGeom>
          <a:solidFill>
            <a:srgbClr val="16A98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" name="Shape 26"/>
          <p:cNvSpPr/>
          <p:nvPr/>
        </p:nvSpPr>
        <p:spPr>
          <a:xfrm>
            <a:off x="9208007" y="4553711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8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8358" y="4614062"/>
            <a:ext cx="382220" cy="382220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Text 27"/>
          <p:cNvSpPr txBox="1"/>
          <p:nvPr/>
        </p:nvSpPr>
        <p:spPr>
          <a:xfrm>
            <a:off x="10853927" y="4484369"/>
            <a:ext cx="45720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5FC2A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04</a:t>
            </a:r>
          </a:p>
        </p:txBody>
      </p:sp>
      <p:sp>
        <p:nvSpPr>
          <p:cNvPr id="60" name="Text 28"/>
          <p:cNvSpPr txBox="1"/>
          <p:nvPr/>
        </p:nvSpPr>
        <p:spPr>
          <a:xfrm>
            <a:off x="9253727" y="5341619"/>
            <a:ext cx="1993393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500"/>
              </a:lnSpc>
              <a:defRPr sz="1200" b="1">
                <a:solidFill>
                  <a:srgbClr val="FFFFFF"/>
                </a:solidFill>
              </a:defRPr>
            </a:pPr>
            <a:r>
              <a:t>Takeaways</a:t>
            </a:r>
          </a:p>
          <a:p>
            <a:pPr>
              <a:lnSpc>
                <a:spcPts val="1500"/>
              </a:lnSpc>
              <a:defRPr sz="1200" b="1">
                <a:solidFill>
                  <a:srgbClr val="FFFFFF"/>
                </a:solidFill>
              </a:defRPr>
            </a:pPr>
            <a:r>
              <a:t>&amp; Q&amp;A</a:t>
            </a:r>
          </a:p>
        </p:txBody>
      </p:sp>
      <p:sp>
        <p:nvSpPr>
          <p:cNvPr id="61" name="Text 29"/>
          <p:cNvSpPr txBox="1"/>
          <p:nvPr/>
        </p:nvSpPr>
        <p:spPr>
          <a:xfrm>
            <a:off x="11597335" y="6469424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9B4C4"/>
                </a:solidFill>
              </a:defRPr>
            </a:lvl1pPr>
          </a:lstStyle>
          <a:p>
            <a:r>
              <a:t>02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-1" y="0"/>
            <a:ext cx="4206242" cy="6858000"/>
          </a:xfrm>
          <a:prstGeom prst="rect">
            <a:avLst/>
          </a:prstGeom>
          <a:solidFill>
            <a:srgbClr val="0A264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" name="Shape 1"/>
          <p:cNvSpPr/>
          <p:nvPr/>
        </p:nvSpPr>
        <p:spPr>
          <a:xfrm>
            <a:off x="914399" y="822960"/>
            <a:ext cx="1005842" cy="1005841"/>
          </a:xfrm>
          <a:prstGeom prst="ellipse">
            <a:avLst/>
          </a:prstGeom>
          <a:solidFill>
            <a:srgbClr val="16A98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" y="943661"/>
            <a:ext cx="764439" cy="764438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Text 2"/>
          <p:cNvSpPr txBox="1"/>
          <p:nvPr/>
        </p:nvSpPr>
        <p:spPr>
          <a:xfrm>
            <a:off x="822959" y="2024687"/>
            <a:ext cx="301752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 spc="150">
                <a:solidFill>
                  <a:srgbClr val="FFB84C"/>
                </a:solidFill>
              </a:defRPr>
            </a:lvl1pPr>
          </a:lstStyle>
          <a:p>
            <a:r>
              <a:t>A Simple Idea</a:t>
            </a:r>
          </a:p>
        </p:txBody>
      </p:sp>
      <p:sp>
        <p:nvSpPr>
          <p:cNvPr id="67" name="Text 3"/>
          <p:cNvSpPr txBox="1"/>
          <p:nvPr/>
        </p:nvSpPr>
        <p:spPr>
          <a:xfrm>
            <a:off x="822959" y="2773041"/>
            <a:ext cx="3017522" cy="170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3200"/>
              </a:lnSpc>
              <a:defRPr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Pay a little repeatedly, </a:t>
            </a:r>
          </a:p>
          <a:p>
            <a:pPr>
              <a:lnSpc>
                <a:spcPts val="3200"/>
              </a:lnSpc>
              <a:defRPr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not a lot</a:t>
            </a:r>
          </a:p>
          <a:p>
            <a:pPr>
              <a:lnSpc>
                <a:spcPts val="3200"/>
              </a:lnSpc>
              <a:defRPr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once.</a:t>
            </a:r>
          </a:p>
        </p:txBody>
      </p:sp>
      <p:sp>
        <p:nvSpPr>
          <p:cNvPr id="68" name="Text 4"/>
          <p:cNvSpPr txBox="1"/>
          <p:nvPr/>
        </p:nvSpPr>
        <p:spPr>
          <a:xfrm>
            <a:off x="822960" y="4982210"/>
            <a:ext cx="2971800" cy="734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C8D3E0"/>
                </a:solidFill>
              </a:defRPr>
            </a:lvl1pPr>
          </a:lstStyle>
          <a:p>
            <a:r>
              <a:t>Customers pay a recurring fee (weekly/monthly/yearly) for ongoing access to a product or service.</a:t>
            </a:r>
          </a:p>
        </p:txBody>
      </p:sp>
      <p:sp>
        <p:nvSpPr>
          <p:cNvPr id="69" name="Text 5"/>
          <p:cNvSpPr txBox="1"/>
          <p:nvPr/>
        </p:nvSpPr>
        <p:spPr>
          <a:xfrm>
            <a:off x="4754879" y="553720"/>
            <a:ext cx="63093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400">
                <a:solidFill>
                  <a:srgbClr val="0F346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Everyday Examples</a:t>
            </a:r>
          </a:p>
        </p:txBody>
      </p:sp>
      <p:sp>
        <p:nvSpPr>
          <p:cNvPr id="70" name="Shape 6"/>
          <p:cNvSpPr/>
          <p:nvPr/>
        </p:nvSpPr>
        <p:spPr>
          <a:xfrm>
            <a:off x="4709159" y="1371600"/>
            <a:ext cx="3246121" cy="2331721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" name="Shape 7"/>
          <p:cNvSpPr/>
          <p:nvPr/>
        </p:nvSpPr>
        <p:spPr>
          <a:xfrm>
            <a:off x="4983479" y="1645920"/>
            <a:ext cx="594361" cy="594361"/>
          </a:xfrm>
          <a:prstGeom prst="ellipse">
            <a:avLst/>
          </a:prstGeom>
          <a:solidFill>
            <a:srgbClr val="16A98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803" y="1717243"/>
            <a:ext cx="451715" cy="451715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 8"/>
          <p:cNvSpPr txBox="1"/>
          <p:nvPr/>
        </p:nvSpPr>
        <p:spPr>
          <a:xfrm>
            <a:off x="5029199" y="2467042"/>
            <a:ext cx="26060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16213E"/>
                </a:solidFill>
              </a:defRPr>
            </a:lvl1pPr>
          </a:lstStyle>
          <a:p>
            <a:r>
              <a:t>Streaming</a:t>
            </a:r>
          </a:p>
        </p:txBody>
      </p:sp>
      <p:sp>
        <p:nvSpPr>
          <p:cNvPr id="74" name="Text 9"/>
          <p:cNvSpPr txBox="1"/>
          <p:nvPr/>
        </p:nvSpPr>
        <p:spPr>
          <a:xfrm>
            <a:off x="5029199" y="2939087"/>
            <a:ext cx="2606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r>
              <a:t>Netflix, Spotify</a:t>
            </a:r>
          </a:p>
        </p:txBody>
      </p:sp>
      <p:sp>
        <p:nvSpPr>
          <p:cNvPr id="75" name="Shape 10"/>
          <p:cNvSpPr/>
          <p:nvPr/>
        </p:nvSpPr>
        <p:spPr>
          <a:xfrm>
            <a:off x="8229600" y="1371600"/>
            <a:ext cx="3246121" cy="2331721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" name="Shape 11"/>
          <p:cNvSpPr/>
          <p:nvPr/>
        </p:nvSpPr>
        <p:spPr>
          <a:xfrm>
            <a:off x="8503919" y="1645920"/>
            <a:ext cx="594361" cy="594361"/>
          </a:xfrm>
          <a:prstGeom prst="ellipse">
            <a:avLst/>
          </a:prstGeom>
          <a:solidFill>
            <a:srgbClr val="FFB84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7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5243" y="1717243"/>
            <a:ext cx="451715" cy="451715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ext 12"/>
          <p:cNvSpPr txBox="1"/>
          <p:nvPr/>
        </p:nvSpPr>
        <p:spPr>
          <a:xfrm>
            <a:off x="8549639" y="2467042"/>
            <a:ext cx="26060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16213E"/>
                </a:solidFill>
              </a:defRPr>
            </a:lvl1pPr>
          </a:lstStyle>
          <a:p>
            <a:r>
              <a:t>Subscription Box</a:t>
            </a:r>
          </a:p>
        </p:txBody>
      </p:sp>
      <p:sp>
        <p:nvSpPr>
          <p:cNvPr id="79" name="Text 13"/>
          <p:cNvSpPr txBox="1"/>
          <p:nvPr/>
        </p:nvSpPr>
        <p:spPr>
          <a:xfrm>
            <a:off x="8549639" y="2939087"/>
            <a:ext cx="2606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r>
              <a:t>Meal &amp; grooming kits</a:t>
            </a:r>
          </a:p>
        </p:txBody>
      </p:sp>
      <p:sp>
        <p:nvSpPr>
          <p:cNvPr id="80" name="Shape 14"/>
          <p:cNvSpPr/>
          <p:nvPr/>
        </p:nvSpPr>
        <p:spPr>
          <a:xfrm>
            <a:off x="4709159" y="3977640"/>
            <a:ext cx="3246121" cy="2331721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Shape 15"/>
          <p:cNvSpPr/>
          <p:nvPr/>
        </p:nvSpPr>
        <p:spPr>
          <a:xfrm>
            <a:off x="4983479" y="4251959"/>
            <a:ext cx="594361" cy="594361"/>
          </a:xfrm>
          <a:prstGeom prst="ellipse">
            <a:avLst/>
          </a:prstGeom>
          <a:solidFill>
            <a:srgbClr val="16A98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2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803" y="4323283"/>
            <a:ext cx="451715" cy="451715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Text 16"/>
          <p:cNvSpPr txBox="1"/>
          <p:nvPr/>
        </p:nvSpPr>
        <p:spPr>
          <a:xfrm>
            <a:off x="5029199" y="5073081"/>
            <a:ext cx="260604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16213E"/>
                </a:solidFill>
              </a:defRPr>
            </a:lvl1pPr>
          </a:lstStyle>
          <a:p>
            <a:r>
              <a:t>Membership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5029199" y="5545127"/>
            <a:ext cx="2606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r>
              <a:t>Gyms, Amazon Prime</a:t>
            </a:r>
          </a:p>
        </p:txBody>
      </p:sp>
      <p:sp>
        <p:nvSpPr>
          <p:cNvPr id="85" name="Shape 18"/>
          <p:cNvSpPr/>
          <p:nvPr/>
        </p:nvSpPr>
        <p:spPr>
          <a:xfrm>
            <a:off x="8229600" y="3977640"/>
            <a:ext cx="3246121" cy="2331721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" name="Shape 19"/>
          <p:cNvSpPr/>
          <p:nvPr/>
        </p:nvSpPr>
        <p:spPr>
          <a:xfrm>
            <a:off x="8503919" y="4251959"/>
            <a:ext cx="594361" cy="594361"/>
          </a:xfrm>
          <a:prstGeom prst="ellipse">
            <a:avLst/>
          </a:prstGeom>
          <a:solidFill>
            <a:srgbClr val="FFB84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7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5243" y="4323283"/>
            <a:ext cx="451715" cy="451715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Text 20"/>
          <p:cNvSpPr txBox="1"/>
          <p:nvPr/>
        </p:nvSpPr>
        <p:spPr>
          <a:xfrm>
            <a:off x="8549639" y="5073081"/>
            <a:ext cx="260604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16213E"/>
                </a:solidFill>
              </a:defRPr>
            </a:lvl1pPr>
          </a:lstStyle>
          <a:p>
            <a:r>
              <a:t>Software (SaaS)</a:t>
            </a:r>
          </a:p>
        </p:txBody>
      </p:sp>
      <p:sp>
        <p:nvSpPr>
          <p:cNvPr id="89" name="Text 21"/>
          <p:cNvSpPr txBox="1"/>
          <p:nvPr/>
        </p:nvSpPr>
        <p:spPr>
          <a:xfrm>
            <a:off x="8549639" y="5545127"/>
            <a:ext cx="2606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r>
              <a:t>Adobe, AI</a:t>
            </a:r>
          </a:p>
        </p:txBody>
      </p:sp>
      <p:sp>
        <p:nvSpPr>
          <p:cNvPr id="90" name="Text 22"/>
          <p:cNvSpPr txBox="1"/>
          <p:nvPr/>
        </p:nvSpPr>
        <p:spPr>
          <a:xfrm>
            <a:off x="11597335" y="6469424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9B4C4"/>
                </a:solidFill>
              </a:defRPr>
            </a:lvl1pPr>
          </a:lstStyle>
          <a:p>
            <a:r>
              <a:t>03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 txBox="1"/>
          <p:nvPr/>
        </p:nvSpPr>
        <p:spPr>
          <a:xfrm>
            <a:off x="685800" y="538787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 spc="150">
                <a:solidFill>
                  <a:srgbClr val="16A98C"/>
                </a:solidFill>
              </a:defRPr>
            </a:lvl1pPr>
          </a:lstStyle>
          <a:p>
            <a:r>
              <a:t>CONCEPT 01</a:t>
            </a:r>
          </a:p>
        </p:txBody>
      </p:sp>
      <p:sp>
        <p:nvSpPr>
          <p:cNvPr id="93" name="Text 1"/>
          <p:cNvSpPr txBox="1"/>
          <p:nvPr/>
        </p:nvSpPr>
        <p:spPr>
          <a:xfrm>
            <a:off x="685800" y="848360"/>
            <a:ext cx="85953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700">
                <a:solidFill>
                  <a:srgbClr val="0F346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dirty="0"/>
              <a:t>D</a:t>
            </a:r>
            <a:r>
              <a:rPr lang="en-US" dirty="0"/>
              <a:t>e</a:t>
            </a:r>
            <a:r>
              <a:rPr dirty="0"/>
              <a:t>mand &amp; the Psychology of Price</a:t>
            </a:r>
          </a:p>
        </p:txBody>
      </p:sp>
      <p:sp>
        <p:nvSpPr>
          <p:cNvPr id="110" name="Text 16"/>
          <p:cNvSpPr txBox="1"/>
          <p:nvPr/>
        </p:nvSpPr>
        <p:spPr>
          <a:xfrm>
            <a:off x="11597335" y="6469424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9B4C4"/>
                </a:solidFill>
              </a:defRPr>
            </a:lvl1pPr>
          </a:lstStyle>
          <a:p>
            <a:r>
              <a:t>04</a:t>
            </a:r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4FF40227-1343-385C-7DCF-0207CE1C57B9}"/>
              </a:ext>
            </a:extLst>
          </p:cNvPr>
          <p:cNvGrpSpPr>
            <a:grpSpLocks/>
          </p:cNvGrpSpPr>
          <p:nvPr/>
        </p:nvGrpSpPr>
        <p:grpSpPr>
          <a:xfrm>
            <a:off x="685799" y="2044898"/>
            <a:ext cx="10820402" cy="4393853"/>
            <a:chOff x="533400" y="2044898"/>
            <a:chExt cx="11125200" cy="4393853"/>
          </a:xfrm>
        </p:grpSpPr>
        <p:pic>
          <p:nvPicPr>
            <p:cNvPr id="206" name="Picture 205" descr="image.png">
              <a:extLst>
                <a:ext uri="{FF2B5EF4-FFF2-40B4-BE49-F238E27FC236}">
                  <a16:creationId xmlns:a16="http://schemas.microsoft.com/office/drawing/2014/main" id="{35F743D1-8591-2A7E-6FAF-DEC925B5D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5695801"/>
              <a:ext cx="11125200" cy="742950"/>
            </a:xfrm>
            <a:prstGeom prst="rect">
              <a:avLst/>
            </a:prstGeom>
          </p:spPr>
        </p:pic>
        <p:pic>
          <p:nvPicPr>
            <p:cNvPr id="207" name="Picture 206" descr="image.png">
              <a:extLst>
                <a:ext uri="{FF2B5EF4-FFF2-40B4-BE49-F238E27FC236}">
                  <a16:creationId xmlns:a16="http://schemas.microsoft.com/office/drawing/2014/main" id="{F00C179F-2FAB-672F-B637-C2684066C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2044898"/>
              <a:ext cx="3571875" cy="2952750"/>
            </a:xfrm>
            <a:prstGeom prst="rect">
              <a:avLst/>
            </a:prstGeom>
          </p:spPr>
        </p:pic>
        <p:pic>
          <p:nvPicPr>
            <p:cNvPr id="208" name="Picture 207" descr="image.png">
              <a:extLst>
                <a:ext uri="{FF2B5EF4-FFF2-40B4-BE49-F238E27FC236}">
                  <a16:creationId xmlns:a16="http://schemas.microsoft.com/office/drawing/2014/main" id="{D5E203CE-3DF0-9126-547C-59D0F42D7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67325" y="2044898"/>
              <a:ext cx="3571875" cy="2952750"/>
            </a:xfrm>
            <a:prstGeom prst="rect">
              <a:avLst/>
            </a:prstGeom>
          </p:spPr>
        </p:pic>
        <p:pic>
          <p:nvPicPr>
            <p:cNvPr id="209" name="Picture 208" descr="image.png">
              <a:extLst>
                <a:ext uri="{FF2B5EF4-FFF2-40B4-BE49-F238E27FC236}">
                  <a16:creationId xmlns:a16="http://schemas.microsoft.com/office/drawing/2014/main" id="{1EF1FE75-5506-21C0-DC0D-C50318EC0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9150" y="5919638"/>
              <a:ext cx="1700212" cy="295275"/>
            </a:xfrm>
            <a:prstGeom prst="rect">
              <a:avLst/>
            </a:prstGeom>
          </p:spPr>
        </p:pic>
        <p:pic>
          <p:nvPicPr>
            <p:cNvPr id="210" name="Picture 209" descr="image.png">
              <a:extLst>
                <a:ext uri="{FF2B5EF4-FFF2-40B4-BE49-F238E27FC236}">
                  <a16:creationId xmlns:a16="http://schemas.microsoft.com/office/drawing/2014/main" id="{76CD1050-ED4F-6B5D-C9BE-CEB82F2A2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1050" y="2292548"/>
              <a:ext cx="1377999" cy="247650"/>
            </a:xfrm>
            <a:prstGeom prst="rect">
              <a:avLst/>
            </a:prstGeom>
          </p:spPr>
        </p:pic>
        <p:pic>
          <p:nvPicPr>
            <p:cNvPr id="211" name="Picture 210" descr="image.png">
              <a:extLst>
                <a:ext uri="{FF2B5EF4-FFF2-40B4-BE49-F238E27FC236}">
                  <a16:creationId xmlns:a16="http://schemas.microsoft.com/office/drawing/2014/main" id="{36DAE389-326C-C056-BC94-468D92EA8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14975" y="2292548"/>
              <a:ext cx="1498699" cy="247650"/>
            </a:xfrm>
            <a:prstGeom prst="rect">
              <a:avLst/>
            </a:prstGeom>
          </p:spPr>
        </p:pic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696E8E2B-B89B-8E02-92AC-9A755BB0D2DB}"/>
                </a:ext>
              </a:extLst>
            </p:cNvPr>
            <p:cNvSpPr txBox="1">
              <a:spLocks/>
            </p:cNvSpPr>
            <p:nvPr/>
          </p:nvSpPr>
          <p:spPr>
            <a:xfrm>
              <a:off x="2709862" y="5867251"/>
              <a:ext cx="8720137" cy="4000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sz="1125" b="1" i="0" u="none" dirty="0">
                  <a:solidFill>
                    <a:srgbClr val="FFFFFF"/>
                  </a:solidFill>
                  <a:latin typeface="Calibri"/>
                </a:rPr>
                <a:t>Economic Mechanism:</a:t>
              </a:r>
              <a:r>
                <a:rPr sz="1125" b="0" i="0" u="none" dirty="0">
                  <a:solidFill>
                    <a:srgbClr val="E2E8F0"/>
                  </a:solidFill>
                  <a:latin typeface="Calibri"/>
                </a:rPr>
                <a:t> Consumers over-index on immediate out-of-pocket costs versus cumulative future payments. Lowering upfront expenditure unlocks massive demand across price-sensitive segments.</a:t>
              </a:r>
            </a:p>
          </p:txBody>
        </p:sp>
        <p:pic>
          <p:nvPicPr>
            <p:cNvPr id="213" name="Picture 212" descr="image.png">
              <a:extLst>
                <a:ext uri="{FF2B5EF4-FFF2-40B4-BE49-F238E27FC236}">
                  <a16:creationId xmlns:a16="http://schemas.microsoft.com/office/drawing/2014/main" id="{FAA61E89-F6ED-14BC-76F3-508B02039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57700" y="3031777"/>
              <a:ext cx="457200" cy="457200"/>
            </a:xfrm>
            <a:prstGeom prst="rect">
              <a:avLst/>
            </a:prstGeom>
          </p:spPr>
        </p:pic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1638B873-B223-A17F-A222-BA89AF700A77}"/>
                </a:ext>
              </a:extLst>
            </p:cNvPr>
            <p:cNvSpPr txBox="1">
              <a:spLocks/>
            </p:cNvSpPr>
            <p:nvPr/>
          </p:nvSpPr>
          <p:spPr>
            <a:xfrm>
              <a:off x="4156918" y="3565177"/>
              <a:ext cx="1058912" cy="4455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170"/>
                </a:lnSpc>
              </a:pPr>
              <a:r>
                <a:rPr sz="900" b="1" i="0" u="none">
                  <a:solidFill>
                    <a:srgbClr val="0F3460"/>
                  </a:solidFill>
                  <a:latin typeface="Calibri"/>
                </a:rPr>
                <a:t>LOWER</a:t>
              </a:r>
              <a:r>
                <a:t>
</a:t>
              </a:r>
              <a:r>
                <a:rPr sz="900" b="1" i="0" u="none">
                  <a:solidFill>
                    <a:srgbClr val="0F3460"/>
                  </a:solidFill>
                  <a:latin typeface="Calibri"/>
                </a:rPr>
                <a:t> PSYCHOLOGICAL</a:t>
              </a:r>
              <a:r>
                <a:t>
</a:t>
              </a:r>
              <a:r>
                <a:rPr sz="900" b="1" i="0" u="none">
                  <a:solidFill>
                    <a:srgbClr val="0F3460"/>
                  </a:solidFill>
                  <a:latin typeface="Calibri"/>
                </a:rPr>
                <a:t> BARRIER</a:t>
              </a:r>
            </a:p>
          </p:txBody>
        </p:sp>
        <p:pic>
          <p:nvPicPr>
            <p:cNvPr id="215" name="Picture 214" descr="image.png">
              <a:extLst>
                <a:ext uri="{FF2B5EF4-FFF2-40B4-BE49-F238E27FC236}">
                  <a16:creationId xmlns:a16="http://schemas.microsoft.com/office/drawing/2014/main" id="{087033D5-107C-0DA1-A63D-F0E298B8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63050" y="2416373"/>
              <a:ext cx="2324100" cy="1809750"/>
            </a:xfrm>
            <a:prstGeom prst="rect">
              <a:avLst/>
            </a:prstGeom>
          </p:spPr>
        </p:pic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D3284769-3E4F-7385-29AE-0544C28CA7DD}"/>
                </a:ext>
              </a:extLst>
            </p:cNvPr>
            <p:cNvSpPr txBox="1">
              <a:spLocks/>
            </p:cNvSpPr>
            <p:nvPr/>
          </p:nvSpPr>
          <p:spPr>
            <a:xfrm>
              <a:off x="9163050" y="4340423"/>
              <a:ext cx="2324100" cy="285750"/>
            </a:xfrm>
            <a:prstGeom prst="rect">
              <a:avLst/>
            </a:prstGeom>
            <a:noFill/>
          </p:spPr>
          <p:txBody>
            <a:bodyPr wrap="square" lIns="123825" tIns="0" rIns="0" bIns="0" anchor="t">
              <a:spAutoFit/>
            </a:bodyPr>
            <a:lstStyle/>
            <a:p>
              <a:pPr algn="ctr"/>
              <a:r>
                <a:rPr sz="975" b="0" i="0" u="none">
                  <a:solidFill>
                    <a:srgbClr val="0F3460"/>
                  </a:solidFill>
                  <a:latin typeface="Calibri SemiBold"/>
                </a:rPr>
                <a:t>Shifts cost curve to widen total addressable market</a:t>
              </a:r>
            </a:p>
          </p:txBody>
        </p:sp>
        <p:pic>
          <p:nvPicPr>
            <p:cNvPr id="217" name="Picture 216" descr="image.png">
              <a:extLst>
                <a:ext uri="{FF2B5EF4-FFF2-40B4-BE49-F238E27FC236}">
                  <a16:creationId xmlns:a16="http://schemas.microsoft.com/office/drawing/2014/main" id="{611BC293-9335-9550-93A6-5F492D44C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71550" y="6005363"/>
              <a:ext cx="100012" cy="123825"/>
            </a:xfrm>
            <a:prstGeom prst="rect">
              <a:avLst/>
            </a:prstGeom>
          </p:spPr>
        </p:pic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A6182EC2-9ACA-CEEF-2B00-2EACC7EB3AB6}"/>
                </a:ext>
              </a:extLst>
            </p:cNvPr>
            <p:cNvSpPr txBox="1">
              <a:spLocks/>
            </p:cNvSpPr>
            <p:nvPr/>
          </p:nvSpPr>
          <p:spPr>
            <a:xfrm>
              <a:off x="1104900" y="3873698"/>
              <a:ext cx="2752725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25" b="0" i="0" u="none">
                  <a:solidFill>
                    <a:srgbClr val="334155"/>
                  </a:solidFill>
                  <a:latin typeface="Calibri Medium"/>
                </a:rPr>
                <a:t>Large upfront capital cost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19AB2DD2-D5BB-AFB7-29BF-46687097CC8E}"/>
                </a:ext>
              </a:extLst>
            </p:cNvPr>
            <p:cNvSpPr txBox="1">
              <a:spLocks/>
            </p:cNvSpPr>
            <p:nvPr/>
          </p:nvSpPr>
          <p:spPr>
            <a:xfrm>
              <a:off x="1104900" y="4197548"/>
              <a:ext cx="2752725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25" b="0" i="0" u="none">
                  <a:solidFill>
                    <a:srgbClr val="334155"/>
                  </a:solidFill>
                  <a:latin typeface="Calibri Medium"/>
                </a:rPr>
                <a:t>Feels expensive &amp; high friction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6AE66B74-50DB-9B29-49F3-80475706B988}"/>
                </a:ext>
              </a:extLst>
            </p:cNvPr>
            <p:cNvSpPr txBox="1">
              <a:spLocks/>
            </p:cNvSpPr>
            <p:nvPr/>
          </p:nvSpPr>
          <p:spPr>
            <a:xfrm>
              <a:off x="1104900" y="4521398"/>
              <a:ext cx="2752725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25" b="0" i="0" u="none">
                  <a:solidFill>
                    <a:srgbClr val="334155"/>
                  </a:solidFill>
                  <a:latin typeface="Calibri Medium"/>
                </a:rPr>
                <a:t>High consumer purchase hesitation</a:t>
              </a:r>
            </a:p>
          </p:txBody>
        </p:sp>
        <p:pic>
          <p:nvPicPr>
            <p:cNvPr id="221" name="Picture 220" descr="image.png">
              <a:extLst>
                <a:ext uri="{FF2B5EF4-FFF2-40B4-BE49-F238E27FC236}">
                  <a16:creationId xmlns:a16="http://schemas.microsoft.com/office/drawing/2014/main" id="{8192D5B8-A2D9-7E55-5A0D-6E8534A19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10100" y="3174652"/>
              <a:ext cx="152400" cy="171450"/>
            </a:xfrm>
            <a:prstGeom prst="rect">
              <a:avLst/>
            </a:prstGeom>
          </p:spPr>
        </p:pic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C3786C92-B772-D562-80A8-8894B88A0733}"/>
                </a:ext>
              </a:extLst>
            </p:cNvPr>
            <p:cNvSpPr txBox="1">
              <a:spLocks/>
            </p:cNvSpPr>
            <p:nvPr/>
          </p:nvSpPr>
          <p:spPr>
            <a:xfrm>
              <a:off x="5838825" y="3873698"/>
              <a:ext cx="2752725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25" b="0" i="0" u="none">
                  <a:solidFill>
                    <a:srgbClr val="FFFFFF"/>
                  </a:solidFill>
                  <a:latin typeface="Calibri Medium"/>
                </a:rPr>
                <a:t>Small recurring monthly fee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05867C31-4E46-A8C6-E969-F083614BCA28}"/>
                </a:ext>
              </a:extLst>
            </p:cNvPr>
            <p:cNvSpPr txBox="1">
              <a:spLocks/>
            </p:cNvSpPr>
            <p:nvPr/>
          </p:nvSpPr>
          <p:spPr>
            <a:xfrm>
              <a:off x="5838825" y="4197548"/>
              <a:ext cx="2752725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25" b="0" i="0" u="none">
                  <a:solidFill>
                    <a:srgbClr val="FFFFFF"/>
                  </a:solidFill>
                  <a:latin typeface="Calibri Medium"/>
                </a:rPr>
                <a:t>Feels accessible &amp; budget-friendly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271950E6-4DFA-814B-880E-F8695F30E4C8}"/>
                </a:ext>
              </a:extLst>
            </p:cNvPr>
            <p:cNvSpPr txBox="1">
              <a:spLocks/>
            </p:cNvSpPr>
            <p:nvPr/>
          </p:nvSpPr>
          <p:spPr>
            <a:xfrm>
              <a:off x="5838825" y="4521398"/>
              <a:ext cx="2752725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25" b="0" i="0" u="none">
                  <a:solidFill>
                    <a:srgbClr val="FFFFFF"/>
                  </a:solidFill>
                  <a:latin typeface="Calibri Medium"/>
                </a:rPr>
                <a:t>Drives rapid consumer conversion</a:t>
              </a:r>
            </a:p>
          </p:txBody>
        </p:sp>
        <p:pic>
          <p:nvPicPr>
            <p:cNvPr id="225" name="Picture 224" descr="image.png">
              <a:extLst>
                <a:ext uri="{FF2B5EF4-FFF2-40B4-BE49-F238E27FC236}">
                  <a16:creationId xmlns:a16="http://schemas.microsoft.com/office/drawing/2014/main" id="{FC68504B-7FF9-F05F-2604-9B215F2C2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330928" y="4349948"/>
              <a:ext cx="123825" cy="123825"/>
            </a:xfrm>
            <a:prstGeom prst="rect">
              <a:avLst/>
            </a:prstGeom>
          </p:spPr>
        </p:pic>
        <p:pic>
          <p:nvPicPr>
            <p:cNvPr id="226" name="Picture 225" descr="image.png">
              <a:extLst>
                <a:ext uri="{FF2B5EF4-FFF2-40B4-BE49-F238E27FC236}">
                  <a16:creationId xmlns:a16="http://schemas.microsoft.com/office/drawing/2014/main" id="{62062014-8F75-80BD-0D69-F4E0221F6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62169" y="2365573"/>
              <a:ext cx="114300" cy="114300"/>
            </a:xfrm>
            <a:prstGeom prst="rect">
              <a:avLst/>
            </a:prstGeom>
          </p:spPr>
        </p:pic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D0126FF-52DF-EF9E-E6D4-2F5B46B87CF6}"/>
                </a:ext>
              </a:extLst>
            </p:cNvPr>
            <p:cNvSpPr txBox="1">
              <a:spLocks/>
            </p:cNvSpPr>
            <p:nvPr/>
          </p:nvSpPr>
          <p:spPr>
            <a:xfrm>
              <a:off x="781050" y="2654498"/>
              <a:ext cx="3076575" cy="4381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sz="3450" b="1" i="0" u="none">
                  <a:solidFill>
                    <a:srgbClr val="0F3460"/>
                  </a:solidFill>
                  <a:latin typeface="Cambria"/>
                </a:rPr>
                <a:t>$150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0D90F735-55A7-BF25-9154-42FB2D23B32E}"/>
                </a:ext>
              </a:extLst>
            </p:cNvPr>
            <p:cNvSpPr txBox="1">
              <a:spLocks/>
            </p:cNvSpPr>
            <p:nvPr/>
          </p:nvSpPr>
          <p:spPr>
            <a:xfrm>
              <a:off x="781050" y="3092648"/>
              <a:ext cx="3076575" cy="1619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0" i="0" u="none">
                  <a:solidFill>
                    <a:srgbClr val="64748B"/>
                  </a:solidFill>
                  <a:latin typeface="Calibri SemiBold"/>
                </a:rPr>
                <a:t>Single upfront payment</a:t>
              </a:r>
            </a:p>
          </p:txBody>
        </p:sp>
        <p:pic>
          <p:nvPicPr>
            <p:cNvPr id="229" name="Picture 228" descr="image.png">
              <a:extLst>
                <a:ext uri="{FF2B5EF4-FFF2-40B4-BE49-F238E27FC236}">
                  <a16:creationId xmlns:a16="http://schemas.microsoft.com/office/drawing/2014/main" id="{301F71E4-B476-D6BF-54F1-7B5268EE8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81050" y="3873698"/>
              <a:ext cx="228600" cy="228600"/>
            </a:xfrm>
            <a:prstGeom prst="rect">
              <a:avLst/>
            </a:prstGeom>
          </p:spPr>
        </p:pic>
        <p:pic>
          <p:nvPicPr>
            <p:cNvPr id="230" name="Picture 229" descr="image.png">
              <a:extLst>
                <a:ext uri="{FF2B5EF4-FFF2-40B4-BE49-F238E27FC236}">
                  <a16:creationId xmlns:a16="http://schemas.microsoft.com/office/drawing/2014/main" id="{4C17C1BF-8729-2382-0AE6-DCDFC08F9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81050" y="4197548"/>
              <a:ext cx="228600" cy="228600"/>
            </a:xfrm>
            <a:prstGeom prst="rect">
              <a:avLst/>
            </a:prstGeom>
          </p:spPr>
        </p:pic>
        <p:pic>
          <p:nvPicPr>
            <p:cNvPr id="231" name="Picture 230" descr="image.png">
              <a:extLst>
                <a:ext uri="{FF2B5EF4-FFF2-40B4-BE49-F238E27FC236}">
                  <a16:creationId xmlns:a16="http://schemas.microsoft.com/office/drawing/2014/main" id="{D7668B5C-5093-CB90-DB2D-AA8A0A80E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81050" y="4521398"/>
              <a:ext cx="228600" cy="228600"/>
            </a:xfrm>
            <a:prstGeom prst="rect">
              <a:avLst/>
            </a:prstGeom>
          </p:spPr>
        </p:pic>
        <p:pic>
          <p:nvPicPr>
            <p:cNvPr id="232" name="Picture 231" descr="image.png">
              <a:extLst>
                <a:ext uri="{FF2B5EF4-FFF2-40B4-BE49-F238E27FC236}">
                  <a16:creationId xmlns:a16="http://schemas.microsoft.com/office/drawing/2014/main" id="{292E24E8-3055-66B0-2BE6-3DF2C0537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583036" y="2359223"/>
              <a:ext cx="114300" cy="114300"/>
            </a:xfrm>
            <a:prstGeom prst="rect">
              <a:avLst/>
            </a:prstGeom>
          </p:spPr>
        </p:pic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E7C90035-F447-8AC1-45A6-B0BD1E6DC1CD}"/>
                </a:ext>
              </a:extLst>
            </p:cNvPr>
            <p:cNvSpPr txBox="1">
              <a:spLocks/>
            </p:cNvSpPr>
            <p:nvPr/>
          </p:nvSpPr>
          <p:spPr>
            <a:xfrm>
              <a:off x="5514975" y="2654498"/>
              <a:ext cx="3076575" cy="4381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sz="3450" b="1" i="0" u="none" dirty="0">
                  <a:solidFill>
                    <a:srgbClr val="16A98C"/>
                  </a:solidFill>
                  <a:latin typeface="Cambria"/>
                </a:rPr>
                <a:t>$15/</a:t>
              </a:r>
              <a:r>
                <a:rPr sz="3450" b="1" i="0" u="none" dirty="0" err="1">
                  <a:solidFill>
                    <a:srgbClr val="16A98C"/>
                  </a:solidFill>
                  <a:latin typeface="Cambria"/>
                </a:rPr>
                <a:t>mo</a:t>
              </a:r>
              <a:endParaRPr sz="3450" b="1" i="0" u="none" dirty="0">
                <a:solidFill>
                  <a:srgbClr val="16A98C"/>
                </a:solidFill>
                <a:latin typeface="Cambria"/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DA309D0D-E13F-320C-67C3-3DD9A8F56926}"/>
                </a:ext>
              </a:extLst>
            </p:cNvPr>
            <p:cNvSpPr txBox="1">
              <a:spLocks/>
            </p:cNvSpPr>
            <p:nvPr/>
          </p:nvSpPr>
          <p:spPr>
            <a:xfrm>
              <a:off x="5514975" y="3092648"/>
              <a:ext cx="3076575" cy="1619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0" i="0" u="none">
                  <a:solidFill>
                    <a:srgbClr val="E2E8F0"/>
                  </a:solidFill>
                  <a:latin typeface="Calibri SemiBold"/>
                </a:rPr>
                <a:t>Low predictable recurring cost</a:t>
              </a:r>
            </a:p>
          </p:txBody>
        </p:sp>
        <p:pic>
          <p:nvPicPr>
            <p:cNvPr id="235" name="Picture 234" descr="image.png">
              <a:extLst>
                <a:ext uri="{FF2B5EF4-FFF2-40B4-BE49-F238E27FC236}">
                  <a16:creationId xmlns:a16="http://schemas.microsoft.com/office/drawing/2014/main" id="{919449D4-CA17-DCED-FF14-CB7AE3FE1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514975" y="3873698"/>
              <a:ext cx="228600" cy="228600"/>
            </a:xfrm>
            <a:prstGeom prst="rect">
              <a:avLst/>
            </a:prstGeom>
          </p:spPr>
        </p:pic>
        <p:pic>
          <p:nvPicPr>
            <p:cNvPr id="236" name="Picture 235" descr="image.png">
              <a:extLst>
                <a:ext uri="{FF2B5EF4-FFF2-40B4-BE49-F238E27FC236}">
                  <a16:creationId xmlns:a16="http://schemas.microsoft.com/office/drawing/2014/main" id="{147EC768-6607-D925-5952-232048784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514975" y="4197548"/>
              <a:ext cx="228600" cy="228600"/>
            </a:xfrm>
            <a:prstGeom prst="rect">
              <a:avLst/>
            </a:prstGeom>
          </p:spPr>
        </p:pic>
        <p:pic>
          <p:nvPicPr>
            <p:cNvPr id="237" name="Picture 236" descr="image.png">
              <a:extLst>
                <a:ext uri="{FF2B5EF4-FFF2-40B4-BE49-F238E27FC236}">
                  <a16:creationId xmlns:a16="http://schemas.microsoft.com/office/drawing/2014/main" id="{C269C2E4-AAC6-F800-7624-7B09083D8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514975" y="4521398"/>
              <a:ext cx="228600" cy="228600"/>
            </a:xfrm>
            <a:prstGeom prst="rect">
              <a:avLst/>
            </a:prstGeom>
          </p:spPr>
        </p:pic>
        <p:pic>
          <p:nvPicPr>
            <p:cNvPr id="238" name="Picture 237" descr="image.png">
              <a:extLst>
                <a:ext uri="{FF2B5EF4-FFF2-40B4-BE49-F238E27FC236}">
                  <a16:creationId xmlns:a16="http://schemas.microsoft.com/office/drawing/2014/main" id="{E17D6CD6-F086-EEF4-F0AA-9D65982CC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52487" y="3930848"/>
              <a:ext cx="85725" cy="114300"/>
            </a:xfrm>
            <a:prstGeom prst="rect">
              <a:avLst/>
            </a:prstGeom>
          </p:spPr>
        </p:pic>
        <p:pic>
          <p:nvPicPr>
            <p:cNvPr id="239" name="Picture 238" descr="image.png">
              <a:extLst>
                <a:ext uri="{FF2B5EF4-FFF2-40B4-BE49-F238E27FC236}">
                  <a16:creationId xmlns:a16="http://schemas.microsoft.com/office/drawing/2014/main" id="{4A0353B0-B769-E892-8BE6-892F743C5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52487" y="4254698"/>
              <a:ext cx="85725" cy="114300"/>
            </a:xfrm>
            <a:prstGeom prst="rect">
              <a:avLst/>
            </a:prstGeom>
          </p:spPr>
        </p:pic>
        <p:pic>
          <p:nvPicPr>
            <p:cNvPr id="240" name="Picture 239" descr="image.png">
              <a:extLst>
                <a:ext uri="{FF2B5EF4-FFF2-40B4-BE49-F238E27FC236}">
                  <a16:creationId xmlns:a16="http://schemas.microsoft.com/office/drawing/2014/main" id="{DCCB7598-C59A-111F-5FFE-45607CA25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52487" y="4578548"/>
              <a:ext cx="85725" cy="114300"/>
            </a:xfrm>
            <a:prstGeom prst="rect">
              <a:avLst/>
            </a:prstGeom>
          </p:spPr>
        </p:pic>
        <p:pic>
          <p:nvPicPr>
            <p:cNvPr id="241" name="Picture 240" descr="image.png">
              <a:extLst>
                <a:ext uri="{FF2B5EF4-FFF2-40B4-BE49-F238E27FC236}">
                  <a16:creationId xmlns:a16="http://schemas.microsoft.com/office/drawing/2014/main" id="{1C82F7F6-EDA6-8683-6394-E3D0119CE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576887" y="3930848"/>
              <a:ext cx="104775" cy="114300"/>
            </a:xfrm>
            <a:prstGeom prst="rect">
              <a:avLst/>
            </a:prstGeom>
          </p:spPr>
        </p:pic>
        <p:pic>
          <p:nvPicPr>
            <p:cNvPr id="242" name="Picture 241" descr="image.png">
              <a:extLst>
                <a:ext uri="{FF2B5EF4-FFF2-40B4-BE49-F238E27FC236}">
                  <a16:creationId xmlns:a16="http://schemas.microsoft.com/office/drawing/2014/main" id="{3B11B3C3-7E89-900A-6215-0CA4F179E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576887" y="4254698"/>
              <a:ext cx="104775" cy="114300"/>
            </a:xfrm>
            <a:prstGeom prst="rect">
              <a:avLst/>
            </a:prstGeom>
          </p:spPr>
        </p:pic>
        <p:pic>
          <p:nvPicPr>
            <p:cNvPr id="243" name="Picture 242" descr="image.png">
              <a:extLst>
                <a:ext uri="{FF2B5EF4-FFF2-40B4-BE49-F238E27FC236}">
                  <a16:creationId xmlns:a16="http://schemas.microsoft.com/office/drawing/2014/main" id="{A76585D2-0800-0DDC-57C5-A348101EB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576887" y="4578548"/>
              <a:ext cx="104775" cy="114300"/>
            </a:xfrm>
            <a:prstGeom prst="rect">
              <a:avLst/>
            </a:prstGeom>
          </p:spPr>
        </p:pic>
        <p:sp>
          <p:nvSpPr>
            <p:cNvPr id="244" name="Rectangle: Rounded Corners 243">
              <a:extLst>
                <a:ext uri="{FF2B5EF4-FFF2-40B4-BE49-F238E27FC236}">
                  <a16:creationId xmlns:a16="http://schemas.microsoft.com/office/drawing/2014/main" id="{1CABDA92-4632-12A0-4CB5-723772364199}"/>
                </a:ext>
              </a:extLst>
            </p:cNvPr>
            <p:cNvSpPr>
              <a:spLocks/>
            </p:cNvSpPr>
            <p:nvPr/>
          </p:nvSpPr>
          <p:spPr>
            <a:xfrm>
              <a:off x="9020676" y="2044898"/>
              <a:ext cx="2560216" cy="2904233"/>
            </a:xfrm>
            <a:prstGeom prst="roundRect">
              <a:avLst>
                <a:gd name="adj" fmla="val 748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 txBox="1"/>
          <p:nvPr/>
        </p:nvSpPr>
        <p:spPr>
          <a:xfrm>
            <a:off x="685800" y="538787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 spc="150">
                <a:solidFill>
                  <a:srgbClr val="16A98C"/>
                </a:solidFill>
              </a:defRPr>
            </a:lvl1pPr>
          </a:lstStyle>
          <a:p>
            <a:r>
              <a:t>CONCEPT 02</a:t>
            </a:r>
          </a:p>
        </p:txBody>
      </p:sp>
      <p:sp>
        <p:nvSpPr>
          <p:cNvPr id="113" name="Text 1"/>
          <p:cNvSpPr txBox="1"/>
          <p:nvPr/>
        </p:nvSpPr>
        <p:spPr>
          <a:xfrm>
            <a:off x="685800" y="848360"/>
            <a:ext cx="90525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700">
                <a:solidFill>
                  <a:srgbClr val="0F346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dirty="0"/>
              <a:t>Price Discrimination Through Tiers</a:t>
            </a:r>
          </a:p>
        </p:txBody>
      </p:sp>
      <p:sp>
        <p:nvSpPr>
          <p:cNvPr id="114" name="Text 2"/>
          <p:cNvSpPr txBox="1"/>
          <p:nvPr/>
        </p:nvSpPr>
        <p:spPr>
          <a:xfrm>
            <a:off x="648697" y="1257651"/>
            <a:ext cx="8595361" cy="30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700"/>
              </a:lnSpc>
              <a:defRPr sz="1300" b="1">
                <a:solidFill>
                  <a:srgbClr val="6B7A90"/>
                </a:solidFill>
              </a:defRPr>
            </a:lvl1pPr>
          </a:lstStyle>
          <a:p>
            <a:r>
              <a:rPr dirty="0"/>
              <a:t>Firms offer several plans so each customer self-selects the price closest to what they're willing to pay.</a:t>
            </a:r>
          </a:p>
        </p:txBody>
      </p:sp>
      <p:sp>
        <p:nvSpPr>
          <p:cNvPr id="141" name="Text 26"/>
          <p:cNvSpPr txBox="1"/>
          <p:nvPr/>
        </p:nvSpPr>
        <p:spPr>
          <a:xfrm>
            <a:off x="11597335" y="6469424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9B4C4"/>
                </a:solidFill>
              </a:defRPr>
            </a:lvl1pPr>
          </a:lstStyle>
          <a:p>
            <a:r>
              <a:t>05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ED52841-70BB-56D9-6533-D93BF2AEF957}"/>
              </a:ext>
            </a:extLst>
          </p:cNvPr>
          <p:cNvGrpSpPr/>
          <p:nvPr/>
        </p:nvGrpSpPr>
        <p:grpSpPr>
          <a:xfrm>
            <a:off x="658368" y="1731801"/>
            <a:ext cx="10875264" cy="4915496"/>
            <a:chOff x="533400" y="1523255"/>
            <a:chExt cx="11125200" cy="4915496"/>
          </a:xfrm>
        </p:grpSpPr>
        <p:pic>
          <p:nvPicPr>
            <p:cNvPr id="5" name="Picture 4" descr="image.png">
              <a:extLst>
                <a:ext uri="{FF2B5EF4-FFF2-40B4-BE49-F238E27FC236}">
                  <a16:creationId xmlns:a16="http://schemas.microsoft.com/office/drawing/2014/main" id="{3E97DA51-BF3C-A9E4-EF7A-DD35E9418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4557266"/>
              <a:ext cx="11125200" cy="1057275"/>
            </a:xfrm>
            <a:prstGeom prst="rect">
              <a:avLst/>
            </a:prstGeom>
          </p:spPr>
        </p:pic>
        <p:pic>
          <p:nvPicPr>
            <p:cNvPr id="6" name="Picture 5" descr="image.png">
              <a:extLst>
                <a:ext uri="{FF2B5EF4-FFF2-40B4-BE49-F238E27FC236}">
                  <a16:creationId xmlns:a16="http://schemas.microsoft.com/office/drawing/2014/main" id="{030E1822-3865-21CB-A945-B738EB8C4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5905351"/>
              <a:ext cx="11125200" cy="533400"/>
            </a:xfrm>
            <a:prstGeom prst="rect">
              <a:avLst/>
            </a:prstGeom>
          </p:spPr>
        </p:pic>
        <p:pic>
          <p:nvPicPr>
            <p:cNvPr id="7" name="Picture 6" descr="image.png">
              <a:extLst>
                <a:ext uri="{FF2B5EF4-FFF2-40B4-BE49-F238E27FC236}">
                  <a16:creationId xmlns:a16="http://schemas.microsoft.com/office/drawing/2014/main" id="{0A336B7D-DA30-23CD-C24E-FBC5E2D18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00" y="1656605"/>
              <a:ext cx="3581400" cy="2571750"/>
            </a:xfrm>
            <a:prstGeom prst="rect">
              <a:avLst/>
            </a:prstGeom>
          </p:spPr>
        </p:pic>
        <p:pic>
          <p:nvPicPr>
            <p:cNvPr id="8" name="Picture 7" descr="image.png">
              <a:extLst>
                <a:ext uri="{FF2B5EF4-FFF2-40B4-BE49-F238E27FC236}">
                  <a16:creationId xmlns:a16="http://schemas.microsoft.com/office/drawing/2014/main" id="{B0E8C981-0AE2-CFBD-B834-FE82F08D4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05300" y="1618505"/>
              <a:ext cx="3581400" cy="2571750"/>
            </a:xfrm>
            <a:prstGeom prst="rect">
              <a:avLst/>
            </a:prstGeom>
          </p:spPr>
        </p:pic>
        <p:pic>
          <p:nvPicPr>
            <p:cNvPr id="9" name="Picture 8" descr="image.png">
              <a:extLst>
                <a:ext uri="{FF2B5EF4-FFF2-40B4-BE49-F238E27FC236}">
                  <a16:creationId xmlns:a16="http://schemas.microsoft.com/office/drawing/2014/main" id="{FEB72AD5-A6A3-36EC-1E1A-A806C5877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77200" y="1656605"/>
              <a:ext cx="3581400" cy="2571750"/>
            </a:xfrm>
            <a:prstGeom prst="rect">
              <a:avLst/>
            </a:prstGeom>
          </p:spPr>
        </p:pic>
        <p:pic>
          <p:nvPicPr>
            <p:cNvPr id="10" name="Picture 9" descr="image.png">
              <a:extLst>
                <a:ext uri="{FF2B5EF4-FFF2-40B4-BE49-F238E27FC236}">
                  <a16:creationId xmlns:a16="http://schemas.microsoft.com/office/drawing/2014/main" id="{3BBD8ADF-FD03-8157-92A3-5A2AB0984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3902" y="6048226"/>
              <a:ext cx="2095350" cy="247650"/>
            </a:xfrm>
            <a:prstGeom prst="rect">
              <a:avLst/>
            </a:prstGeom>
          </p:spPr>
        </p:pic>
        <p:pic>
          <p:nvPicPr>
            <p:cNvPr id="11" name="Picture 10" descr="image.png">
              <a:extLst>
                <a:ext uri="{FF2B5EF4-FFF2-40B4-BE49-F238E27FC236}">
                  <a16:creationId xmlns:a16="http://schemas.microsoft.com/office/drawing/2014/main" id="{386CCF45-66C4-5D1F-5843-32E9CAAE7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09146" y="1523255"/>
              <a:ext cx="1168003" cy="190500"/>
            </a:xfrm>
            <a:prstGeom prst="rect">
              <a:avLst/>
            </a:prstGeom>
          </p:spPr>
        </p:pic>
        <p:pic>
          <p:nvPicPr>
            <p:cNvPr id="12" name="Picture 11" descr="image.png">
              <a:extLst>
                <a:ext uri="{FF2B5EF4-FFF2-40B4-BE49-F238E27FC236}">
                  <a16:creationId xmlns:a16="http://schemas.microsoft.com/office/drawing/2014/main" id="{445093E0-431E-8CB8-A014-40C46A140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1050" y="5081141"/>
              <a:ext cx="2478881" cy="361950"/>
            </a:xfrm>
            <a:prstGeom prst="rect">
              <a:avLst/>
            </a:prstGeom>
          </p:spPr>
        </p:pic>
        <p:pic>
          <p:nvPicPr>
            <p:cNvPr id="13" name="Picture 12" descr="image.png">
              <a:extLst>
                <a:ext uri="{FF2B5EF4-FFF2-40B4-BE49-F238E27FC236}">
                  <a16:creationId xmlns:a16="http://schemas.microsoft.com/office/drawing/2014/main" id="{BFB4535E-65BB-A148-8EC0-D615F93AB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98056" y="5081141"/>
              <a:ext cx="2478881" cy="361950"/>
            </a:xfrm>
            <a:prstGeom prst="rect">
              <a:avLst/>
            </a:prstGeom>
          </p:spPr>
        </p:pic>
        <p:pic>
          <p:nvPicPr>
            <p:cNvPr id="14" name="Picture 13" descr="image.png">
              <a:extLst>
                <a:ext uri="{FF2B5EF4-FFF2-40B4-BE49-F238E27FC236}">
                  <a16:creationId xmlns:a16="http://schemas.microsoft.com/office/drawing/2014/main" id="{32F9C6D7-DF82-9054-0077-F2B7D5CDB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15062" y="5081141"/>
              <a:ext cx="2478881" cy="361950"/>
            </a:xfrm>
            <a:prstGeom prst="rect">
              <a:avLst/>
            </a:prstGeom>
          </p:spPr>
        </p:pic>
        <p:pic>
          <p:nvPicPr>
            <p:cNvPr id="15" name="Picture 14" descr="image.png">
              <a:extLst>
                <a:ext uri="{FF2B5EF4-FFF2-40B4-BE49-F238E27FC236}">
                  <a16:creationId xmlns:a16="http://schemas.microsoft.com/office/drawing/2014/main" id="{1FD3077B-CA46-BB25-3A58-407C20996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932068" y="5081141"/>
              <a:ext cx="2478881" cy="361950"/>
            </a:xfrm>
            <a:prstGeom prst="rect">
              <a:avLst/>
            </a:prstGeom>
          </p:spPr>
        </p:pic>
        <p:pic>
          <p:nvPicPr>
            <p:cNvPr id="16" name="Picture 15" descr="image.png">
              <a:extLst>
                <a:ext uri="{FF2B5EF4-FFF2-40B4-BE49-F238E27FC236}">
                  <a16:creationId xmlns:a16="http://schemas.microsoft.com/office/drawing/2014/main" id="{13C6A65D-2255-3F7A-70A6-9D97B8CB9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214270" y="4728716"/>
              <a:ext cx="870495" cy="238125"/>
            </a:xfrm>
            <a:prstGeom prst="rect">
              <a:avLst/>
            </a:prstGeom>
          </p:spPr>
        </p:pic>
        <p:pic>
          <p:nvPicPr>
            <p:cNvPr id="17" name="Picture 16" descr="image.png">
              <a:extLst>
                <a:ext uri="{FF2B5EF4-FFF2-40B4-BE49-F238E27FC236}">
                  <a16:creationId xmlns:a16="http://schemas.microsoft.com/office/drawing/2014/main" id="{6E944F41-EA95-8DC6-FECC-2B97526BF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37166" y="4728716"/>
              <a:ext cx="849510" cy="238125"/>
            </a:xfrm>
            <a:prstGeom prst="rect">
              <a:avLst/>
            </a:prstGeom>
          </p:spPr>
        </p:pic>
        <p:pic>
          <p:nvPicPr>
            <p:cNvPr id="18" name="Picture 17" descr="image.png">
              <a:extLst>
                <a:ext uri="{FF2B5EF4-FFF2-40B4-BE49-F238E27FC236}">
                  <a16:creationId xmlns:a16="http://schemas.microsoft.com/office/drawing/2014/main" id="{88896AAE-1CA8-47A5-D003-D7367A08B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239077" y="4728716"/>
              <a:ext cx="1171872" cy="23812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B7846C7-D965-AC0E-4F1C-C5731AF7CBDC}"/>
                </a:ext>
              </a:extLst>
            </p:cNvPr>
            <p:cNvSpPr txBox="1"/>
            <p:nvPr/>
          </p:nvSpPr>
          <p:spPr>
            <a:xfrm>
              <a:off x="2971651" y="6019651"/>
              <a:ext cx="8496448" cy="304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>
                  <a:solidFill>
                    <a:srgbClr val="FFFFFF"/>
                  </a:solidFill>
                  <a:latin typeface="Calibri"/>
                </a:rPr>
                <a:t>Tiered pricing enables price discrimination, allowing software companies to maximize ARPU (Average Revenue Per User) while preventing churn across different income brackets.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7A47FF-AC4A-0882-4A27-8095171717B3}"/>
                </a:ext>
              </a:extLst>
            </p:cNvPr>
            <p:cNvSpPr txBox="1"/>
            <p:nvPr/>
          </p:nvSpPr>
          <p:spPr>
            <a:xfrm>
              <a:off x="781050" y="3866405"/>
              <a:ext cx="3086100" cy="1143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25" b="1" i="0" u="none">
                  <a:solidFill>
                    <a:srgbClr val="64748B"/>
                  </a:solidFill>
                  <a:latin typeface="Calibri"/>
                </a:rPr>
                <a:t>TARGET: PRICE SENSITIVE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342D0CB-1529-A092-EA59-BE3E44BB3532}"/>
                </a:ext>
              </a:extLst>
            </p:cNvPr>
            <p:cNvSpPr txBox="1"/>
            <p:nvPr/>
          </p:nvSpPr>
          <p:spPr>
            <a:xfrm>
              <a:off x="4552950" y="3828305"/>
              <a:ext cx="3086100" cy="1143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25" b="0" i="0" u="none">
                  <a:solidFill>
                    <a:srgbClr val="16A98C"/>
                  </a:solidFill>
                  <a:latin typeface="Calibri ExtraBold"/>
                </a:rPr>
                <a:t>TARGET: MAINSTREAM CONSUMERS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9EDC9EC-5CBB-612A-4F8F-68DEF0296186}"/>
                </a:ext>
              </a:extLst>
            </p:cNvPr>
            <p:cNvSpPr txBox="1"/>
            <p:nvPr/>
          </p:nvSpPr>
          <p:spPr>
            <a:xfrm>
              <a:off x="8324850" y="3866405"/>
              <a:ext cx="3086100" cy="1143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25" b="1" i="0" u="none">
                  <a:solidFill>
                    <a:srgbClr val="64748B"/>
                  </a:solidFill>
                  <a:latin typeface="Calibri"/>
                </a:rPr>
                <a:t>TARGET: POWER USERS &amp; FAMILIES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DF47EA-5B03-8549-60F0-9A53BDB65365}"/>
                </a:ext>
              </a:extLst>
            </p:cNvPr>
            <p:cNvSpPr txBox="1"/>
            <p:nvPr/>
          </p:nvSpPr>
          <p:spPr>
            <a:xfrm>
              <a:off x="990600" y="4776341"/>
              <a:ext cx="2500610" cy="14287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75" b="0" i="0" u="none">
                  <a:solidFill>
                    <a:srgbClr val="0F3460"/>
                  </a:solidFill>
                  <a:latin typeface="Calibri ExtraBold"/>
                </a:rPr>
                <a:t>ECONOMIC VALUE CREATION CHAIN</a:t>
              </a:r>
            </a:p>
          </p:txBody>
        </p:sp>
        <p:pic>
          <p:nvPicPr>
            <p:cNvPr id="24" name="Picture 23" descr="image.png">
              <a:extLst>
                <a:ext uri="{FF2B5EF4-FFF2-40B4-BE49-F238E27FC236}">
                  <a16:creationId xmlns:a16="http://schemas.microsoft.com/office/drawing/2014/main" id="{99F9259D-4D02-9262-9B78-03589521F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336131" y="5190678"/>
              <a:ext cx="85725" cy="142875"/>
            </a:xfrm>
            <a:prstGeom prst="rect">
              <a:avLst/>
            </a:prstGeom>
          </p:spPr>
        </p:pic>
        <p:pic>
          <p:nvPicPr>
            <p:cNvPr id="25" name="Picture 24" descr="image.png">
              <a:extLst>
                <a:ext uri="{FF2B5EF4-FFF2-40B4-BE49-F238E27FC236}">
                  <a16:creationId xmlns:a16="http://schemas.microsoft.com/office/drawing/2014/main" id="{BB0F4E18-7CC2-F613-0357-7A49DB6FF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053137" y="5190678"/>
              <a:ext cx="85725" cy="142875"/>
            </a:xfrm>
            <a:prstGeom prst="rect">
              <a:avLst/>
            </a:prstGeom>
          </p:spPr>
        </p:pic>
        <p:pic>
          <p:nvPicPr>
            <p:cNvPr id="26" name="Picture 25" descr="image.png">
              <a:extLst>
                <a:ext uri="{FF2B5EF4-FFF2-40B4-BE49-F238E27FC236}">
                  <a16:creationId xmlns:a16="http://schemas.microsoft.com/office/drawing/2014/main" id="{5E6A57F5-080E-806B-5AB8-DE744FB94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770143" y="5190678"/>
              <a:ext cx="85725" cy="142875"/>
            </a:xfrm>
            <a:prstGeom prst="rect">
              <a:avLst/>
            </a:prstGeom>
          </p:spPr>
        </p:pic>
        <p:pic>
          <p:nvPicPr>
            <p:cNvPr id="27" name="Picture 26" descr="image.png">
              <a:extLst>
                <a:ext uri="{FF2B5EF4-FFF2-40B4-BE49-F238E27FC236}">
                  <a16:creationId xmlns:a16="http://schemas.microsoft.com/office/drawing/2014/main" id="{3027515A-B475-9395-7FB4-E0F90ED30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55396" y="6112015"/>
              <a:ext cx="119062" cy="1143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116A97-3263-C44A-DB15-01F9CDBDA508}"/>
                </a:ext>
              </a:extLst>
            </p:cNvPr>
            <p:cNvSpPr txBox="1"/>
            <p:nvPr/>
          </p:nvSpPr>
          <p:spPr>
            <a:xfrm>
              <a:off x="781050" y="1904255"/>
              <a:ext cx="3086100" cy="247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50" b="1" i="0" u="none">
                  <a:solidFill>
                    <a:srgbClr val="0F3460"/>
                  </a:solidFill>
                  <a:latin typeface="Cambria"/>
                </a:rPr>
                <a:t>Basic Plan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6D20D61-7DF7-7F2F-0D30-FC7D8517CDE9}"/>
                </a:ext>
              </a:extLst>
            </p:cNvPr>
            <p:cNvSpPr txBox="1"/>
            <p:nvPr/>
          </p:nvSpPr>
          <p:spPr>
            <a:xfrm>
              <a:off x="781050" y="2190005"/>
              <a:ext cx="3086100" cy="3714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550" b="1" i="0" u="none">
                  <a:solidFill>
                    <a:srgbClr val="0F3460"/>
                  </a:solidFill>
                  <a:latin typeface="Calibri"/>
                </a:rPr>
                <a:t>$5 </a:t>
              </a:r>
              <a:r>
                <a:rPr sz="2550" b="0" i="0" u="none">
                  <a:solidFill>
                    <a:srgbClr val="64748B"/>
                  </a:solidFill>
                  <a:latin typeface="Calibri SemiBold"/>
                </a:rPr>
                <a:t>/ month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D64DC80-49A7-1929-EBEC-075417CAC474}"/>
                </a:ext>
              </a:extLst>
            </p:cNvPr>
            <p:cNvSpPr txBox="1"/>
            <p:nvPr/>
          </p:nvSpPr>
          <p:spPr>
            <a:xfrm>
              <a:off x="4552950" y="1866155"/>
              <a:ext cx="3086100" cy="247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50" b="1" i="0" u="none">
                  <a:solidFill>
                    <a:srgbClr val="FFFFFF"/>
                  </a:solidFill>
                  <a:latin typeface="Cambria"/>
                </a:rPr>
                <a:t>Standard Plan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21E794E-3862-B966-40F2-4724B2AFB40E}"/>
                </a:ext>
              </a:extLst>
            </p:cNvPr>
            <p:cNvSpPr txBox="1"/>
            <p:nvPr/>
          </p:nvSpPr>
          <p:spPr>
            <a:xfrm>
              <a:off x="4552950" y="2151905"/>
              <a:ext cx="3086100" cy="3714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550" b="1" i="0" u="none">
                  <a:solidFill>
                    <a:srgbClr val="16A98C"/>
                  </a:solidFill>
                  <a:latin typeface="Calibri"/>
                </a:rPr>
                <a:t>$12 </a:t>
              </a:r>
              <a:r>
                <a:rPr sz="2550" b="0" i="0" u="none">
                  <a:solidFill>
                    <a:srgbClr val="CBD5E1"/>
                  </a:solidFill>
                  <a:latin typeface="Calibri SemiBold"/>
                </a:rPr>
                <a:t>/ month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8EB719-EB07-D420-D27C-F7EDD4F1BA0F}"/>
                </a:ext>
              </a:extLst>
            </p:cNvPr>
            <p:cNvSpPr txBox="1"/>
            <p:nvPr/>
          </p:nvSpPr>
          <p:spPr>
            <a:xfrm>
              <a:off x="8324850" y="1904255"/>
              <a:ext cx="3086100" cy="247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50" b="1" i="0" u="none">
                  <a:solidFill>
                    <a:srgbClr val="0F3460"/>
                  </a:solidFill>
                  <a:latin typeface="Cambria"/>
                </a:rPr>
                <a:t>Premium Plan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FA86E9-7E7D-BEDC-3EBD-DAF0B4B099B7}"/>
                </a:ext>
              </a:extLst>
            </p:cNvPr>
            <p:cNvSpPr txBox="1"/>
            <p:nvPr/>
          </p:nvSpPr>
          <p:spPr>
            <a:xfrm>
              <a:off x="8324850" y="2190005"/>
              <a:ext cx="3086100" cy="3714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550" b="1" i="0" u="none">
                  <a:solidFill>
                    <a:srgbClr val="0F3460"/>
                  </a:solidFill>
                  <a:latin typeface="Calibri"/>
                </a:rPr>
                <a:t>$20 </a:t>
              </a:r>
              <a:r>
                <a:rPr sz="2550" b="0" i="0" u="none">
                  <a:solidFill>
                    <a:srgbClr val="64748B"/>
                  </a:solidFill>
                  <a:latin typeface="Calibri SemiBold"/>
                </a:rPr>
                <a:t>/ month</a:t>
              </a:r>
            </a:p>
          </p:txBody>
        </p:sp>
        <p:pic>
          <p:nvPicPr>
            <p:cNvPr id="34" name="Picture 33" descr="image.png">
              <a:extLst>
                <a:ext uri="{FF2B5EF4-FFF2-40B4-BE49-F238E27FC236}">
                  <a16:creationId xmlns:a16="http://schemas.microsoft.com/office/drawing/2014/main" id="{0AFFA142-A994-2745-B8AD-B50949B08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81050" y="4785866"/>
              <a:ext cx="152400" cy="123825"/>
            </a:xfrm>
            <a:prstGeom prst="rect">
              <a:avLst/>
            </a:prstGeom>
          </p:spPr>
        </p:pic>
        <p:pic>
          <p:nvPicPr>
            <p:cNvPr id="35" name="Picture 34" descr="image.png">
              <a:extLst>
                <a:ext uri="{FF2B5EF4-FFF2-40B4-BE49-F238E27FC236}">
                  <a16:creationId xmlns:a16="http://schemas.microsoft.com/office/drawing/2014/main" id="{64F9A335-7337-8FF0-E3D9-2A904EE4C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42321" y="5195441"/>
              <a:ext cx="171450" cy="133350"/>
            </a:xfrm>
            <a:prstGeom prst="rect">
              <a:avLst/>
            </a:prstGeom>
          </p:spPr>
        </p:pic>
        <p:pic>
          <p:nvPicPr>
            <p:cNvPr id="36" name="Picture 35" descr="image.png">
              <a:extLst>
                <a:ext uri="{FF2B5EF4-FFF2-40B4-BE49-F238E27FC236}">
                  <a16:creationId xmlns:a16="http://schemas.microsoft.com/office/drawing/2014/main" id="{E60F23F7-1B5A-55A7-5C2B-4EACE556C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772364" y="5195441"/>
              <a:ext cx="133350" cy="133350"/>
            </a:xfrm>
            <a:prstGeom prst="rect">
              <a:avLst/>
            </a:prstGeom>
          </p:spPr>
        </p:pic>
        <p:pic>
          <p:nvPicPr>
            <p:cNvPr id="37" name="Picture 36" descr="image.png">
              <a:extLst>
                <a:ext uri="{FF2B5EF4-FFF2-40B4-BE49-F238E27FC236}">
                  <a16:creationId xmlns:a16="http://schemas.microsoft.com/office/drawing/2014/main" id="{A0662D16-1942-6002-7236-522B6E8FC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379779" y="5195441"/>
              <a:ext cx="133350" cy="13335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505270F-77CB-2192-31E6-D6D7DF0493DA}"/>
                </a:ext>
              </a:extLst>
            </p:cNvPr>
            <p:cNvSpPr txBox="1"/>
            <p:nvPr/>
          </p:nvSpPr>
          <p:spPr>
            <a:xfrm>
              <a:off x="981075" y="2675780"/>
              <a:ext cx="2886075" cy="152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0" i="0" u="none">
                  <a:solidFill>
                    <a:srgbClr val="334155"/>
                  </a:solidFill>
                  <a:latin typeface="Calibri Medium"/>
                </a:rPr>
                <a:t>Core entry-level features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E86088-33CC-1834-1422-0E0F8919BD69}"/>
                </a:ext>
              </a:extLst>
            </p:cNvPr>
            <p:cNvSpPr txBox="1"/>
            <p:nvPr/>
          </p:nvSpPr>
          <p:spPr>
            <a:xfrm>
              <a:off x="981075" y="2904380"/>
              <a:ext cx="2886075" cy="152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0" i="0" u="none">
                  <a:solidFill>
                    <a:srgbClr val="334155"/>
                  </a:solidFill>
                  <a:latin typeface="Calibri Medium"/>
                </a:rPr>
                <a:t>Ad-supported streaming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65D6669-FC3F-0723-7534-5F717DA13290}"/>
                </a:ext>
              </a:extLst>
            </p:cNvPr>
            <p:cNvSpPr txBox="1"/>
            <p:nvPr/>
          </p:nvSpPr>
          <p:spPr>
            <a:xfrm>
              <a:off x="981075" y="3132980"/>
              <a:ext cx="2886075" cy="152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0" i="0" u="none">
                  <a:solidFill>
                    <a:srgbClr val="334155"/>
                  </a:solidFill>
                  <a:latin typeface="Calibri Medium"/>
                </a:rPr>
                <a:t>1 active screen/device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4FE25A0-8942-4D00-1A72-E7D02D3A9033}"/>
                </a:ext>
              </a:extLst>
            </p:cNvPr>
            <p:cNvSpPr txBox="1"/>
            <p:nvPr/>
          </p:nvSpPr>
          <p:spPr>
            <a:xfrm>
              <a:off x="4752975" y="2637680"/>
              <a:ext cx="2886075" cy="152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0" i="0" u="none" dirty="0">
                  <a:solidFill>
                    <a:srgbClr val="FFFFFF"/>
                  </a:solidFill>
                  <a:latin typeface="Calibri Medium"/>
                </a:rPr>
                <a:t>Full HD feature access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1841984-618B-3F75-B27E-751ECD1B301B}"/>
                </a:ext>
              </a:extLst>
            </p:cNvPr>
            <p:cNvSpPr txBox="1"/>
            <p:nvPr/>
          </p:nvSpPr>
          <p:spPr>
            <a:xfrm>
              <a:off x="4752975" y="2866280"/>
              <a:ext cx="2886075" cy="152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0" i="0" u="none">
                  <a:solidFill>
                    <a:srgbClr val="FFFFFF"/>
                  </a:solidFill>
                  <a:latin typeface="Calibri Medium"/>
                </a:rPr>
                <a:t>100% Ad-free experience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817846E-CA44-5BCA-656C-606D0AC121F8}"/>
                </a:ext>
              </a:extLst>
            </p:cNvPr>
            <p:cNvSpPr txBox="1"/>
            <p:nvPr/>
          </p:nvSpPr>
          <p:spPr>
            <a:xfrm>
              <a:off x="4752975" y="3094880"/>
              <a:ext cx="2886075" cy="152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0" i="0" u="none">
                  <a:solidFill>
                    <a:srgbClr val="FFFFFF"/>
                  </a:solidFill>
                  <a:latin typeface="Calibri Medium"/>
                </a:rPr>
                <a:t>Up to 3 devices simultaneously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1FCE194-30B1-1C18-43AF-FF34301F7260}"/>
                </a:ext>
              </a:extLst>
            </p:cNvPr>
            <p:cNvSpPr txBox="1"/>
            <p:nvPr/>
          </p:nvSpPr>
          <p:spPr>
            <a:xfrm>
              <a:off x="8524875" y="2675780"/>
              <a:ext cx="2886075" cy="152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0" i="0" u="none">
                  <a:solidFill>
                    <a:srgbClr val="334155"/>
                  </a:solidFill>
                  <a:latin typeface="Calibri Medium"/>
                </a:rPr>
                <a:t>Ultra HD 4K + Audio features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513FEB3-BAA8-7F45-7137-32856D8A329A}"/>
                </a:ext>
              </a:extLst>
            </p:cNvPr>
            <p:cNvSpPr txBox="1"/>
            <p:nvPr/>
          </p:nvSpPr>
          <p:spPr>
            <a:xfrm>
              <a:off x="8524875" y="2904380"/>
              <a:ext cx="2886075" cy="152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0" i="0" u="none">
                  <a:solidFill>
                    <a:srgbClr val="334155"/>
                  </a:solidFill>
                  <a:latin typeface="Calibri Medium"/>
                </a:rPr>
                <a:t>Offline downloads &amp; storage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6A319FF-1C0C-BAC5-F02F-58947EEFD95B}"/>
                </a:ext>
              </a:extLst>
            </p:cNvPr>
            <p:cNvSpPr txBox="1"/>
            <p:nvPr/>
          </p:nvSpPr>
          <p:spPr>
            <a:xfrm>
              <a:off x="8524875" y="3132980"/>
              <a:ext cx="2886075" cy="152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0" i="0" u="none">
                  <a:solidFill>
                    <a:srgbClr val="334155"/>
                  </a:solidFill>
                  <a:latin typeface="Calibri Medium"/>
                </a:rPr>
                <a:t>Unlimited concurrent devices</a:t>
              </a:r>
            </a:p>
          </p:txBody>
        </p:sp>
        <p:pic>
          <p:nvPicPr>
            <p:cNvPr id="47" name="Picture 46" descr="image.png">
              <a:extLst>
                <a:ext uri="{FF2B5EF4-FFF2-40B4-BE49-F238E27FC236}">
                  <a16:creationId xmlns:a16="http://schemas.microsoft.com/office/drawing/2014/main" id="{23FF48D6-B02C-3E39-30CE-D5CC94754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99120" y="4785866"/>
              <a:ext cx="104775" cy="123825"/>
            </a:xfrm>
            <a:prstGeom prst="rect">
              <a:avLst/>
            </a:prstGeom>
          </p:spPr>
        </p:pic>
        <p:pic>
          <p:nvPicPr>
            <p:cNvPr id="48" name="Picture 47" descr="image.png">
              <a:extLst>
                <a:ext uri="{FF2B5EF4-FFF2-40B4-BE49-F238E27FC236}">
                  <a16:creationId xmlns:a16="http://schemas.microsoft.com/office/drawing/2014/main" id="{BCD25A9A-9F81-A446-7EE6-6946256B0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9302528" y="4779516"/>
              <a:ext cx="152400" cy="123825"/>
            </a:xfrm>
            <a:prstGeom prst="rect">
              <a:avLst/>
            </a:prstGeom>
          </p:spPr>
        </p:pic>
        <p:pic>
          <p:nvPicPr>
            <p:cNvPr id="49" name="Picture 48" descr="image.png">
              <a:extLst>
                <a:ext uri="{FF2B5EF4-FFF2-40B4-BE49-F238E27FC236}">
                  <a16:creationId xmlns:a16="http://schemas.microsoft.com/office/drawing/2014/main" id="{63476AC3-98EB-7C22-95AD-DB3433D05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314183" y="4785866"/>
              <a:ext cx="123825" cy="123825"/>
            </a:xfrm>
            <a:prstGeom prst="rect">
              <a:avLst/>
            </a:prstGeom>
          </p:spPr>
        </p:pic>
        <p:pic>
          <p:nvPicPr>
            <p:cNvPr id="50" name="Picture 49" descr="image.png">
              <a:extLst>
                <a:ext uri="{FF2B5EF4-FFF2-40B4-BE49-F238E27FC236}">
                  <a16:creationId xmlns:a16="http://schemas.microsoft.com/office/drawing/2014/main" id="{B3EDD404-CCD9-9EAA-E66B-0A06544B6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81050" y="2685305"/>
              <a:ext cx="123825" cy="133350"/>
            </a:xfrm>
            <a:prstGeom prst="rect">
              <a:avLst/>
            </a:prstGeom>
          </p:spPr>
        </p:pic>
        <p:pic>
          <p:nvPicPr>
            <p:cNvPr id="51" name="Picture 50" descr="image.png">
              <a:extLst>
                <a:ext uri="{FF2B5EF4-FFF2-40B4-BE49-F238E27FC236}">
                  <a16:creationId xmlns:a16="http://schemas.microsoft.com/office/drawing/2014/main" id="{0FF97718-94E8-9609-B9E4-4103811D2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81050" y="2913905"/>
              <a:ext cx="123825" cy="133350"/>
            </a:xfrm>
            <a:prstGeom prst="rect">
              <a:avLst/>
            </a:prstGeom>
          </p:spPr>
        </p:pic>
        <p:pic>
          <p:nvPicPr>
            <p:cNvPr id="52" name="Picture 51" descr="image.png">
              <a:extLst>
                <a:ext uri="{FF2B5EF4-FFF2-40B4-BE49-F238E27FC236}">
                  <a16:creationId xmlns:a16="http://schemas.microsoft.com/office/drawing/2014/main" id="{4AD8D918-7441-C4F9-5957-CC76455A0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81050" y="3142505"/>
              <a:ext cx="123825" cy="133350"/>
            </a:xfrm>
            <a:prstGeom prst="rect">
              <a:avLst/>
            </a:prstGeom>
          </p:spPr>
        </p:pic>
        <p:pic>
          <p:nvPicPr>
            <p:cNvPr id="53" name="Picture 52" descr="image.png">
              <a:extLst>
                <a:ext uri="{FF2B5EF4-FFF2-40B4-BE49-F238E27FC236}">
                  <a16:creationId xmlns:a16="http://schemas.microsoft.com/office/drawing/2014/main" id="{8C22824D-B4B3-1524-734C-0046A6031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552950" y="2647205"/>
              <a:ext cx="123825" cy="133350"/>
            </a:xfrm>
            <a:prstGeom prst="rect">
              <a:avLst/>
            </a:prstGeom>
          </p:spPr>
        </p:pic>
        <p:pic>
          <p:nvPicPr>
            <p:cNvPr id="54" name="Picture 53" descr="image.png">
              <a:extLst>
                <a:ext uri="{FF2B5EF4-FFF2-40B4-BE49-F238E27FC236}">
                  <a16:creationId xmlns:a16="http://schemas.microsoft.com/office/drawing/2014/main" id="{DBB4D3C3-82E4-0AAB-758B-84E88B6E8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552950" y="2875805"/>
              <a:ext cx="123825" cy="133350"/>
            </a:xfrm>
            <a:prstGeom prst="rect">
              <a:avLst/>
            </a:prstGeom>
          </p:spPr>
        </p:pic>
        <p:pic>
          <p:nvPicPr>
            <p:cNvPr id="55" name="Picture 54" descr="image.png">
              <a:extLst>
                <a:ext uri="{FF2B5EF4-FFF2-40B4-BE49-F238E27FC236}">
                  <a16:creationId xmlns:a16="http://schemas.microsoft.com/office/drawing/2014/main" id="{DE49C17F-C26A-F3A4-7336-25B756DE3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552950" y="3104405"/>
              <a:ext cx="123825" cy="133350"/>
            </a:xfrm>
            <a:prstGeom prst="rect">
              <a:avLst/>
            </a:prstGeom>
          </p:spPr>
        </p:pic>
        <p:pic>
          <p:nvPicPr>
            <p:cNvPr id="56" name="Picture 55" descr="image.png">
              <a:extLst>
                <a:ext uri="{FF2B5EF4-FFF2-40B4-BE49-F238E27FC236}">
                  <a16:creationId xmlns:a16="http://schemas.microsoft.com/office/drawing/2014/main" id="{C9D78DFE-30BB-7766-B068-DE021B908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8324850" y="2685305"/>
              <a:ext cx="123825" cy="133350"/>
            </a:xfrm>
            <a:prstGeom prst="rect">
              <a:avLst/>
            </a:prstGeom>
          </p:spPr>
        </p:pic>
        <p:pic>
          <p:nvPicPr>
            <p:cNvPr id="57" name="Picture 56" descr="image.png">
              <a:extLst>
                <a:ext uri="{FF2B5EF4-FFF2-40B4-BE49-F238E27FC236}">
                  <a16:creationId xmlns:a16="http://schemas.microsoft.com/office/drawing/2014/main" id="{B640001E-E47C-96DF-9C81-6A721B37E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8324850" y="2913905"/>
              <a:ext cx="123825" cy="133350"/>
            </a:xfrm>
            <a:prstGeom prst="rect">
              <a:avLst/>
            </a:prstGeom>
          </p:spPr>
        </p:pic>
        <p:pic>
          <p:nvPicPr>
            <p:cNvPr id="58" name="Picture 57" descr="image.png">
              <a:extLst>
                <a:ext uri="{FF2B5EF4-FFF2-40B4-BE49-F238E27FC236}">
                  <a16:creationId xmlns:a16="http://schemas.microsoft.com/office/drawing/2014/main" id="{87A5F2C4-FAAB-D01F-D1B9-32F41C5F5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8324850" y="3142505"/>
              <a:ext cx="123825" cy="133350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 txBox="1"/>
          <p:nvPr/>
        </p:nvSpPr>
        <p:spPr>
          <a:xfrm>
            <a:off x="685800" y="538787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 spc="150">
                <a:solidFill>
                  <a:srgbClr val="16A98C"/>
                </a:solidFill>
              </a:defRPr>
            </a:lvl1pPr>
          </a:lstStyle>
          <a:p>
            <a:r>
              <a:t>CONCEPT 03</a:t>
            </a:r>
          </a:p>
        </p:txBody>
      </p:sp>
      <p:sp>
        <p:nvSpPr>
          <p:cNvPr id="144" name="Text 1"/>
          <p:cNvSpPr txBox="1"/>
          <p:nvPr/>
        </p:nvSpPr>
        <p:spPr>
          <a:xfrm>
            <a:off x="685800" y="848360"/>
            <a:ext cx="72237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700">
                <a:solidFill>
                  <a:srgbClr val="0F346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Economies of Scale</a:t>
            </a:r>
          </a:p>
        </p:txBody>
      </p:sp>
      <p:sp>
        <p:nvSpPr>
          <p:cNvPr id="145" name="Text 2"/>
          <p:cNvSpPr txBox="1"/>
          <p:nvPr/>
        </p:nvSpPr>
        <p:spPr>
          <a:xfrm>
            <a:off x="685799" y="1785302"/>
            <a:ext cx="5029202" cy="544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800"/>
              </a:lnSpc>
              <a:defRPr sz="1300" b="1">
                <a:solidFill>
                  <a:srgbClr val="6B7A90"/>
                </a:solidFill>
              </a:defRPr>
            </a:lvl1pPr>
          </a:lstStyle>
          <a:p>
            <a:r>
              <a:t>For digital subscriptions, the cost of serving one more customer is nearly $0  so almost all extra revenue becomes profit.</a:t>
            </a:r>
          </a:p>
        </p:txBody>
      </p:sp>
      <p:sp>
        <p:nvSpPr>
          <p:cNvPr id="146" name="Shape 3"/>
          <p:cNvSpPr/>
          <p:nvPr/>
        </p:nvSpPr>
        <p:spPr>
          <a:xfrm>
            <a:off x="640080" y="2788920"/>
            <a:ext cx="548641" cy="548641"/>
          </a:xfrm>
          <a:prstGeom prst="ellipse">
            <a:avLst/>
          </a:prstGeom>
          <a:solidFill>
            <a:srgbClr val="16A98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4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" y="2854756"/>
            <a:ext cx="416968" cy="416967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Text 4"/>
          <p:cNvSpPr txBox="1"/>
          <p:nvPr/>
        </p:nvSpPr>
        <p:spPr>
          <a:xfrm>
            <a:off x="1325879" y="2888419"/>
            <a:ext cx="429768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13E"/>
                </a:solidFill>
              </a:defRPr>
            </a:lvl1pPr>
          </a:lstStyle>
          <a:p>
            <a:r>
              <a:t>More subscribers</a:t>
            </a:r>
          </a:p>
        </p:txBody>
      </p:sp>
      <p:sp>
        <p:nvSpPr>
          <p:cNvPr id="149" name="Shape 5"/>
          <p:cNvSpPr/>
          <p:nvPr/>
        </p:nvSpPr>
        <p:spPr>
          <a:xfrm>
            <a:off x="640080" y="3428999"/>
            <a:ext cx="548641" cy="548642"/>
          </a:xfrm>
          <a:prstGeom prst="ellipse">
            <a:avLst/>
          </a:prstGeom>
          <a:solidFill>
            <a:srgbClr val="FFB84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" y="3494837"/>
            <a:ext cx="416968" cy="416967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Text 6"/>
          <p:cNvSpPr txBox="1"/>
          <p:nvPr/>
        </p:nvSpPr>
        <p:spPr>
          <a:xfrm>
            <a:off x="1325879" y="3528499"/>
            <a:ext cx="429768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13E"/>
                </a:solidFill>
              </a:defRPr>
            </a:lvl1pPr>
          </a:lstStyle>
          <a:p>
            <a:r>
              <a:t>Falling cost per user</a:t>
            </a:r>
          </a:p>
        </p:txBody>
      </p:sp>
      <p:sp>
        <p:nvSpPr>
          <p:cNvPr id="152" name="Shape 7"/>
          <p:cNvSpPr/>
          <p:nvPr/>
        </p:nvSpPr>
        <p:spPr>
          <a:xfrm>
            <a:off x="640080" y="4069079"/>
            <a:ext cx="548641" cy="548641"/>
          </a:xfrm>
          <a:prstGeom prst="ellipse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3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" y="4134916"/>
            <a:ext cx="416968" cy="416968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ext 8"/>
          <p:cNvSpPr txBox="1"/>
          <p:nvPr/>
        </p:nvSpPr>
        <p:spPr>
          <a:xfrm>
            <a:off x="1325879" y="4168579"/>
            <a:ext cx="429768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13E"/>
                </a:solidFill>
              </a:defRPr>
            </a:lvl1pPr>
          </a:lstStyle>
          <a:p>
            <a:r>
              <a:t>Rising profit margin</a:t>
            </a:r>
          </a:p>
        </p:txBody>
      </p:sp>
      <p:sp>
        <p:nvSpPr>
          <p:cNvPr id="155" name="Text 9"/>
          <p:cNvSpPr txBox="1"/>
          <p:nvPr/>
        </p:nvSpPr>
        <p:spPr>
          <a:xfrm>
            <a:off x="11597335" y="6469424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9B4C4"/>
                </a:solidFill>
              </a:defRPr>
            </a:lvl1pPr>
          </a:lstStyle>
          <a:p>
            <a:r>
              <a:t>06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 txBox="1"/>
          <p:nvPr/>
        </p:nvSpPr>
        <p:spPr>
          <a:xfrm>
            <a:off x="685800" y="538787"/>
            <a:ext cx="4480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 spc="150">
                <a:solidFill>
                  <a:srgbClr val="16A98C"/>
                </a:solidFill>
              </a:defRPr>
            </a:lvl1pPr>
          </a:lstStyle>
          <a:p>
            <a:r>
              <a:t>CONCEPT 04  •  CLO4</a:t>
            </a:r>
          </a:p>
        </p:txBody>
      </p:sp>
      <p:sp>
        <p:nvSpPr>
          <p:cNvPr id="158" name="Text 1"/>
          <p:cNvSpPr txBox="1"/>
          <p:nvPr/>
        </p:nvSpPr>
        <p:spPr>
          <a:xfrm>
            <a:off x="685800" y="848360"/>
            <a:ext cx="90525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700">
                <a:solidFill>
                  <a:srgbClr val="0F346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Market Equilibrium &amp; Switching Costs</a:t>
            </a:r>
          </a:p>
        </p:txBody>
      </p:sp>
      <p:sp>
        <p:nvSpPr>
          <p:cNvPr id="159" name="Text 2"/>
          <p:cNvSpPr txBox="1"/>
          <p:nvPr/>
        </p:nvSpPr>
        <p:spPr>
          <a:xfrm>
            <a:off x="685799" y="1562539"/>
            <a:ext cx="1069848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6B7A90"/>
                </a:solidFill>
              </a:defRPr>
            </a:lvl1pPr>
          </a:lstStyle>
          <a:p>
            <a:r>
              <a:t>Low switching costs push subscription markets toward high volume, lower price — a new equilibrium point.</a:t>
            </a:r>
          </a:p>
        </p:txBody>
      </p:sp>
      <p:graphicFrame>
        <p:nvGraphicFramePr>
          <p:cNvPr id="160" name="Chart 0"/>
          <p:cNvGraphicFramePr/>
          <p:nvPr/>
        </p:nvGraphicFramePr>
        <p:xfrm>
          <a:off x="1004059" y="2219066"/>
          <a:ext cx="5832352" cy="3506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1" name="Text 3"/>
          <p:cNvSpPr txBox="1"/>
          <p:nvPr/>
        </p:nvSpPr>
        <p:spPr>
          <a:xfrm>
            <a:off x="548639" y="6103664"/>
            <a:ext cx="64008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i="1">
                <a:solidFill>
                  <a:srgbClr val="6B7A90"/>
                </a:solidFill>
              </a:defRPr>
            </a:lvl1pPr>
          </a:lstStyle>
          <a:p>
            <a:r>
              <a:t>The point where the two lines cross is the market equilibrium — the price and quantity subscribers and firms both settle on.</a:t>
            </a:r>
          </a:p>
        </p:txBody>
      </p:sp>
      <p:sp>
        <p:nvSpPr>
          <p:cNvPr id="162" name="Shape 4"/>
          <p:cNvSpPr/>
          <p:nvPr/>
        </p:nvSpPr>
        <p:spPr>
          <a:xfrm>
            <a:off x="7406640" y="2057399"/>
            <a:ext cx="502921" cy="502922"/>
          </a:xfrm>
          <a:prstGeom prst="ellipse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3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989" y="2117749"/>
            <a:ext cx="382220" cy="382220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Text 5"/>
          <p:cNvSpPr txBox="1"/>
          <p:nvPr/>
        </p:nvSpPr>
        <p:spPr>
          <a:xfrm>
            <a:off x="8092439" y="210660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13E"/>
                </a:solidFill>
              </a:defRPr>
            </a:lvl1pPr>
          </a:lstStyle>
          <a:p>
            <a:r>
              <a:t>High switching cost</a:t>
            </a:r>
          </a:p>
        </p:txBody>
      </p:sp>
      <p:sp>
        <p:nvSpPr>
          <p:cNvPr id="165" name="Text 6"/>
          <p:cNvSpPr txBox="1"/>
          <p:nvPr/>
        </p:nvSpPr>
        <p:spPr>
          <a:xfrm>
            <a:off x="8092439" y="2608389"/>
            <a:ext cx="3566161" cy="278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6B7A90"/>
                </a:solidFill>
              </a:defRPr>
            </a:lvl1pPr>
          </a:lstStyle>
          <a:p>
            <a:r>
              <a:t>Fewer alternatives feel viable, so price can stay high.</a:t>
            </a:r>
          </a:p>
        </p:txBody>
      </p:sp>
      <p:sp>
        <p:nvSpPr>
          <p:cNvPr id="166" name="Shape 7"/>
          <p:cNvSpPr/>
          <p:nvPr/>
        </p:nvSpPr>
        <p:spPr>
          <a:xfrm>
            <a:off x="7406640" y="3355847"/>
            <a:ext cx="502921" cy="502921"/>
          </a:xfrm>
          <a:prstGeom prst="ellipse">
            <a:avLst/>
          </a:prstGeom>
          <a:solidFill>
            <a:srgbClr val="16A98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Image 1" descr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989" y="3416198"/>
            <a:ext cx="382220" cy="382220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ext 8"/>
          <p:cNvSpPr txBox="1"/>
          <p:nvPr/>
        </p:nvSpPr>
        <p:spPr>
          <a:xfrm>
            <a:off x="8092439" y="3405054"/>
            <a:ext cx="3566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13E"/>
                </a:solidFill>
              </a:defRPr>
            </a:lvl1pPr>
          </a:lstStyle>
          <a:p>
            <a:r>
              <a:t>Low switching cost</a:t>
            </a:r>
          </a:p>
        </p:txBody>
      </p:sp>
      <p:sp>
        <p:nvSpPr>
          <p:cNvPr id="169" name="Text 9"/>
          <p:cNvSpPr txBox="1"/>
          <p:nvPr/>
        </p:nvSpPr>
        <p:spPr>
          <a:xfrm>
            <a:off x="8092439" y="3811587"/>
            <a:ext cx="3566161" cy="46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6B7A90"/>
                </a:solidFill>
              </a:defRPr>
            </a:lvl1pPr>
          </a:lstStyle>
          <a:p>
            <a:r>
              <a:t>Easy to compare &amp; cancel, so price settles closer to true value.</a:t>
            </a:r>
          </a:p>
        </p:txBody>
      </p:sp>
      <p:sp>
        <p:nvSpPr>
          <p:cNvPr id="170" name="Shape 10"/>
          <p:cNvSpPr/>
          <p:nvPr/>
        </p:nvSpPr>
        <p:spPr>
          <a:xfrm>
            <a:off x="7406640" y="4654296"/>
            <a:ext cx="502921" cy="502921"/>
          </a:xfrm>
          <a:prstGeom prst="ellipse">
            <a:avLst/>
          </a:prstGeom>
          <a:solidFill>
            <a:srgbClr val="FFB84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71" name="Image 2" descr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989" y="4714645"/>
            <a:ext cx="382220" cy="382220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Text 11"/>
          <p:cNvSpPr txBox="1"/>
          <p:nvPr/>
        </p:nvSpPr>
        <p:spPr>
          <a:xfrm>
            <a:off x="8092439" y="4703503"/>
            <a:ext cx="3566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13E"/>
                </a:solidFill>
              </a:defRPr>
            </a:lvl1pPr>
          </a:lstStyle>
          <a:p>
            <a:r>
              <a:t>Equilibrium point</a:t>
            </a:r>
          </a:p>
        </p:txBody>
      </p:sp>
      <p:sp>
        <p:nvSpPr>
          <p:cNvPr id="173" name="Text 12"/>
          <p:cNvSpPr txBox="1"/>
          <p:nvPr/>
        </p:nvSpPr>
        <p:spPr>
          <a:xfrm>
            <a:off x="8092439" y="5110035"/>
            <a:ext cx="3566161" cy="46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6B7A90"/>
                </a:solidFill>
              </a:defRPr>
            </a:lvl1pPr>
          </a:lstStyle>
          <a:p>
            <a:r>
              <a:t>Where subscriber demand meets what firms will supply at that price.</a:t>
            </a:r>
          </a:p>
        </p:txBody>
      </p:sp>
      <p:sp>
        <p:nvSpPr>
          <p:cNvPr id="174" name="Text 13"/>
          <p:cNvSpPr txBox="1"/>
          <p:nvPr/>
        </p:nvSpPr>
        <p:spPr>
          <a:xfrm>
            <a:off x="11597335" y="6469424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9B4C4"/>
                </a:solidFill>
              </a:defRPr>
            </a:lvl1pPr>
          </a:lstStyle>
          <a:p>
            <a:r>
              <a:t>07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 txBox="1"/>
          <p:nvPr/>
        </p:nvSpPr>
        <p:spPr>
          <a:xfrm>
            <a:off x="685800" y="538787"/>
            <a:ext cx="4480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 spc="150">
                <a:solidFill>
                  <a:srgbClr val="FFB84C"/>
                </a:solidFill>
              </a:defRPr>
            </a:lvl1pPr>
          </a:lstStyle>
          <a:p>
            <a:r>
              <a:t>REAL-WORLD EXAMPLE</a:t>
            </a:r>
          </a:p>
        </p:txBody>
      </p:sp>
      <p:sp>
        <p:nvSpPr>
          <p:cNvPr id="177" name="Text 1"/>
          <p:cNvSpPr txBox="1"/>
          <p:nvPr/>
        </p:nvSpPr>
        <p:spPr>
          <a:xfrm>
            <a:off x="685800" y="848360"/>
            <a:ext cx="99669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Streaming: Subscriptions at Scale</a:t>
            </a:r>
          </a:p>
        </p:txBody>
      </p:sp>
      <p:sp>
        <p:nvSpPr>
          <p:cNvPr id="178" name="Text 2"/>
          <p:cNvSpPr txBox="1"/>
          <p:nvPr/>
        </p:nvSpPr>
        <p:spPr>
          <a:xfrm>
            <a:off x="685800" y="1562539"/>
            <a:ext cx="99669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C8D3E0"/>
                </a:solidFill>
              </a:defRPr>
            </a:lvl1pPr>
          </a:lstStyle>
          <a:p>
            <a:r>
              <a:t>A global streaming platform shows every concept in action: tiered pricing, low switching friction, and economies of scale.</a:t>
            </a:r>
          </a:p>
        </p:txBody>
      </p:sp>
      <p:sp>
        <p:nvSpPr>
          <p:cNvPr id="179" name="Shape 3"/>
          <p:cNvSpPr/>
          <p:nvPr/>
        </p:nvSpPr>
        <p:spPr>
          <a:xfrm>
            <a:off x="640080" y="23317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Shape 4"/>
          <p:cNvSpPr/>
          <p:nvPr/>
        </p:nvSpPr>
        <p:spPr>
          <a:xfrm>
            <a:off x="1650492" y="2697479"/>
            <a:ext cx="585217" cy="585217"/>
          </a:xfrm>
          <a:prstGeom prst="ellipse">
            <a:avLst/>
          </a:prstGeom>
          <a:solidFill>
            <a:srgbClr val="16A98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718" y="2767706"/>
            <a:ext cx="444765" cy="444765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Text 5"/>
          <p:cNvSpPr txBox="1"/>
          <p:nvPr/>
        </p:nvSpPr>
        <p:spPr>
          <a:xfrm>
            <a:off x="822959" y="3611880"/>
            <a:ext cx="224028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300M+</a:t>
            </a:r>
          </a:p>
        </p:txBody>
      </p:sp>
      <p:sp>
        <p:nvSpPr>
          <p:cNvPr id="183" name="Text 6"/>
          <p:cNvSpPr txBox="1"/>
          <p:nvPr/>
        </p:nvSpPr>
        <p:spPr>
          <a:xfrm>
            <a:off x="914400" y="4751069"/>
            <a:ext cx="205740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ts val="1500"/>
              </a:lnSpc>
              <a:defRPr sz="1200">
                <a:solidFill>
                  <a:srgbClr val="C8D3E0"/>
                </a:solidFill>
              </a:defRPr>
            </a:lvl1pPr>
          </a:lstStyle>
          <a:p>
            <a:r>
              <a:t>Paid subscribers worldwide</a:t>
            </a:r>
          </a:p>
        </p:txBody>
      </p:sp>
      <p:sp>
        <p:nvSpPr>
          <p:cNvPr id="184" name="Shape 7"/>
          <p:cNvSpPr/>
          <p:nvPr/>
        </p:nvSpPr>
        <p:spPr>
          <a:xfrm>
            <a:off x="3502152" y="2331720"/>
            <a:ext cx="2606041" cy="3383280"/>
          </a:xfrm>
          <a:prstGeom prst="roundRect">
            <a:avLst>
              <a:gd name="adj" fmla="val 4211"/>
            </a:avLst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5" name="Shape 8"/>
          <p:cNvSpPr/>
          <p:nvPr/>
        </p:nvSpPr>
        <p:spPr>
          <a:xfrm>
            <a:off x="4512564" y="2697479"/>
            <a:ext cx="585217" cy="585217"/>
          </a:xfrm>
          <a:prstGeom prst="ellipse">
            <a:avLst/>
          </a:prstGeom>
          <a:solidFill>
            <a:srgbClr val="FFB84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6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790" y="2767706"/>
            <a:ext cx="444765" cy="444765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Text 9"/>
          <p:cNvSpPr txBox="1"/>
          <p:nvPr/>
        </p:nvSpPr>
        <p:spPr>
          <a:xfrm>
            <a:off x="3685031" y="3611880"/>
            <a:ext cx="224028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190+</a:t>
            </a:r>
          </a:p>
        </p:txBody>
      </p:sp>
      <p:sp>
        <p:nvSpPr>
          <p:cNvPr id="188" name="Text 10"/>
          <p:cNvSpPr txBox="1"/>
          <p:nvPr/>
        </p:nvSpPr>
        <p:spPr>
          <a:xfrm>
            <a:off x="3776472" y="4655819"/>
            <a:ext cx="20574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ts val="1500"/>
              </a:lnSpc>
              <a:defRPr sz="1200">
                <a:solidFill>
                  <a:srgbClr val="C8D3E0"/>
                </a:solidFill>
              </a:defRPr>
            </a:lvl1pPr>
          </a:lstStyle>
          <a:p>
            <a:r>
              <a:t>Countries served from one platform</a:t>
            </a:r>
          </a:p>
        </p:txBody>
      </p:sp>
      <p:sp>
        <p:nvSpPr>
          <p:cNvPr id="189" name="Shape 11"/>
          <p:cNvSpPr/>
          <p:nvPr/>
        </p:nvSpPr>
        <p:spPr>
          <a:xfrm>
            <a:off x="6364223" y="2331720"/>
            <a:ext cx="2606041" cy="3383280"/>
          </a:xfrm>
          <a:prstGeom prst="roundRect">
            <a:avLst>
              <a:gd name="adj" fmla="val 4211"/>
            </a:avLst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0" name="Shape 12"/>
          <p:cNvSpPr/>
          <p:nvPr/>
        </p:nvSpPr>
        <p:spPr>
          <a:xfrm>
            <a:off x="7374635" y="2697479"/>
            <a:ext cx="585217" cy="585217"/>
          </a:xfrm>
          <a:prstGeom prst="ellipse">
            <a:avLst/>
          </a:prstGeom>
          <a:solidFill>
            <a:srgbClr val="16A98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91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861" y="2767706"/>
            <a:ext cx="444765" cy="444765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ext 13"/>
          <p:cNvSpPr txBox="1"/>
          <p:nvPr/>
        </p:nvSpPr>
        <p:spPr>
          <a:xfrm>
            <a:off x="6547104" y="3611880"/>
            <a:ext cx="22402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3</a:t>
            </a:r>
          </a:p>
        </p:txBody>
      </p:sp>
      <p:sp>
        <p:nvSpPr>
          <p:cNvPr id="193" name="Text 14"/>
          <p:cNvSpPr txBox="1"/>
          <p:nvPr/>
        </p:nvSpPr>
        <p:spPr>
          <a:xfrm>
            <a:off x="6638543" y="4655819"/>
            <a:ext cx="20574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ts val="1500"/>
              </a:lnSpc>
              <a:defRPr sz="1200">
                <a:solidFill>
                  <a:srgbClr val="C8D3E0"/>
                </a:solidFill>
              </a:defRPr>
            </a:lvl1pPr>
          </a:lstStyle>
          <a:p>
            <a:r>
              <a:t>Price tiers to capture more of the market</a:t>
            </a:r>
          </a:p>
        </p:txBody>
      </p:sp>
      <p:sp>
        <p:nvSpPr>
          <p:cNvPr id="194" name="Shape 15"/>
          <p:cNvSpPr/>
          <p:nvPr/>
        </p:nvSpPr>
        <p:spPr>
          <a:xfrm>
            <a:off x="9226295" y="2331720"/>
            <a:ext cx="2606041" cy="3383280"/>
          </a:xfrm>
          <a:prstGeom prst="roundRect">
            <a:avLst>
              <a:gd name="adj" fmla="val 4211"/>
            </a:avLst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5" name="Shape 16"/>
          <p:cNvSpPr/>
          <p:nvPr/>
        </p:nvSpPr>
        <p:spPr>
          <a:xfrm>
            <a:off x="10236707" y="2697479"/>
            <a:ext cx="585217" cy="585217"/>
          </a:xfrm>
          <a:prstGeom prst="ellipse">
            <a:avLst/>
          </a:prstGeom>
          <a:solidFill>
            <a:srgbClr val="FFB84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96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6933" y="2767706"/>
            <a:ext cx="444765" cy="444765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 17"/>
          <p:cNvSpPr txBox="1"/>
          <p:nvPr/>
        </p:nvSpPr>
        <p:spPr>
          <a:xfrm>
            <a:off x="9409176" y="3611880"/>
            <a:ext cx="22402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~$0</a:t>
            </a:r>
          </a:p>
        </p:txBody>
      </p:sp>
      <p:sp>
        <p:nvSpPr>
          <p:cNvPr id="198" name="Text 18"/>
          <p:cNvSpPr txBox="1"/>
          <p:nvPr/>
        </p:nvSpPr>
        <p:spPr>
          <a:xfrm>
            <a:off x="9500615" y="4655819"/>
            <a:ext cx="20574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ts val="1500"/>
              </a:lnSpc>
              <a:defRPr sz="1200">
                <a:solidFill>
                  <a:srgbClr val="C8D3E0"/>
                </a:solidFill>
              </a:defRPr>
            </a:lvl1pPr>
          </a:lstStyle>
          <a:p>
            <a:r>
              <a:t>Marginal cost to stream to one more user</a:t>
            </a:r>
          </a:p>
        </p:txBody>
      </p:sp>
      <p:sp>
        <p:nvSpPr>
          <p:cNvPr id="199" name="Text 19"/>
          <p:cNvSpPr txBox="1"/>
          <p:nvPr/>
        </p:nvSpPr>
        <p:spPr>
          <a:xfrm>
            <a:off x="11597335" y="6469424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FA3BF"/>
                </a:solidFill>
              </a:defRPr>
            </a:lvl1pPr>
          </a:lstStyle>
          <a:p>
            <a:r>
              <a:t>08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 txBox="1"/>
          <p:nvPr/>
        </p:nvSpPr>
        <p:spPr>
          <a:xfrm>
            <a:off x="685800" y="502919"/>
            <a:ext cx="72237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0F346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Key Takeaways</a:t>
            </a:r>
          </a:p>
        </p:txBody>
      </p:sp>
      <p:sp>
        <p:nvSpPr>
          <p:cNvPr id="202" name="Text 1"/>
          <p:cNvSpPr txBox="1"/>
          <p:nvPr/>
        </p:nvSpPr>
        <p:spPr>
          <a:xfrm>
            <a:off x="685800" y="1139760"/>
            <a:ext cx="8138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 b="1">
                <a:solidFill>
                  <a:srgbClr val="6B7A90"/>
                </a:solidFill>
              </a:defRPr>
            </a:lvl1pPr>
          </a:lstStyle>
          <a:p>
            <a:r>
              <a:t>Four economic forces behind the subscription boom</a:t>
            </a:r>
          </a:p>
        </p:txBody>
      </p:sp>
      <p:sp>
        <p:nvSpPr>
          <p:cNvPr id="203" name="Shape 2"/>
          <p:cNvSpPr/>
          <p:nvPr/>
        </p:nvSpPr>
        <p:spPr>
          <a:xfrm>
            <a:off x="64008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1A2942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04" name="Shape 3"/>
          <p:cNvSpPr/>
          <p:nvPr/>
        </p:nvSpPr>
        <p:spPr>
          <a:xfrm>
            <a:off x="932688" y="2148839"/>
            <a:ext cx="594361" cy="594361"/>
          </a:xfrm>
          <a:prstGeom prst="ellipse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0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" y="2220162"/>
            <a:ext cx="451715" cy="451715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Text 4"/>
          <p:cNvSpPr txBox="1"/>
          <p:nvPr/>
        </p:nvSpPr>
        <p:spPr>
          <a:xfrm>
            <a:off x="978408" y="3042078"/>
            <a:ext cx="1965961" cy="316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800"/>
              </a:lnSpc>
              <a:defRPr sz="1500">
                <a:solidFill>
                  <a:srgbClr val="16213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Behavioral pull</a:t>
            </a:r>
          </a:p>
        </p:txBody>
      </p:sp>
      <p:sp>
        <p:nvSpPr>
          <p:cNvPr id="207" name="Text 5"/>
          <p:cNvSpPr txBox="1"/>
          <p:nvPr/>
        </p:nvSpPr>
        <p:spPr>
          <a:xfrm>
            <a:off x="978408" y="4177029"/>
            <a:ext cx="1965961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6B7A90"/>
                </a:solidFill>
              </a:defRPr>
            </a:lvl1pPr>
          </a:lstStyle>
          <a:p>
            <a:r>
              <a:t>Small recurring fees feel lighter than one big payment, so demand stays strong.</a:t>
            </a:r>
          </a:p>
        </p:txBody>
      </p:sp>
      <p:sp>
        <p:nvSpPr>
          <p:cNvPr id="208" name="Shape 6"/>
          <p:cNvSpPr/>
          <p:nvPr/>
        </p:nvSpPr>
        <p:spPr>
          <a:xfrm>
            <a:off x="3502152" y="1828800"/>
            <a:ext cx="2606041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1A2942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09" name="Shape 7"/>
          <p:cNvSpPr/>
          <p:nvPr/>
        </p:nvSpPr>
        <p:spPr>
          <a:xfrm>
            <a:off x="3794759" y="2148839"/>
            <a:ext cx="594361" cy="594361"/>
          </a:xfrm>
          <a:prstGeom prst="ellipse">
            <a:avLst/>
          </a:prstGeom>
          <a:solidFill>
            <a:srgbClr val="16A98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1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083" y="2220162"/>
            <a:ext cx="451715" cy="451715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Text 8"/>
          <p:cNvSpPr txBox="1"/>
          <p:nvPr/>
        </p:nvSpPr>
        <p:spPr>
          <a:xfrm>
            <a:off x="3840479" y="3042078"/>
            <a:ext cx="1965961" cy="316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800"/>
              </a:lnSpc>
              <a:defRPr sz="1500">
                <a:solidFill>
                  <a:srgbClr val="16213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Smart pricing</a:t>
            </a:r>
          </a:p>
        </p:txBody>
      </p:sp>
      <p:sp>
        <p:nvSpPr>
          <p:cNvPr id="212" name="Text 9"/>
          <p:cNvSpPr txBox="1"/>
          <p:nvPr/>
        </p:nvSpPr>
        <p:spPr>
          <a:xfrm>
            <a:off x="3840479" y="4177029"/>
            <a:ext cx="1965961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6B7A90"/>
                </a:solidFill>
              </a:defRPr>
            </a:lvl1pPr>
          </a:lstStyle>
          <a:p>
            <a:r>
              <a:t>Tiered plans let firms capture value from every type of customer.</a:t>
            </a:r>
          </a:p>
        </p:txBody>
      </p:sp>
      <p:sp>
        <p:nvSpPr>
          <p:cNvPr id="213" name="Shape 10"/>
          <p:cNvSpPr/>
          <p:nvPr/>
        </p:nvSpPr>
        <p:spPr>
          <a:xfrm>
            <a:off x="6364223" y="1828800"/>
            <a:ext cx="2606041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1A2942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14" name="Shape 11"/>
          <p:cNvSpPr/>
          <p:nvPr/>
        </p:nvSpPr>
        <p:spPr>
          <a:xfrm>
            <a:off x="6656831" y="2148839"/>
            <a:ext cx="594361" cy="594361"/>
          </a:xfrm>
          <a:prstGeom prst="ellipse">
            <a:avLst/>
          </a:prstGeom>
          <a:solidFill>
            <a:srgbClr val="FFB84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15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155" y="2220162"/>
            <a:ext cx="451715" cy="451715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Text 12"/>
          <p:cNvSpPr txBox="1"/>
          <p:nvPr/>
        </p:nvSpPr>
        <p:spPr>
          <a:xfrm>
            <a:off x="6702551" y="3042078"/>
            <a:ext cx="1965961" cy="316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800"/>
              </a:lnSpc>
              <a:defRPr sz="1500">
                <a:solidFill>
                  <a:srgbClr val="16213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Scale advantage</a:t>
            </a:r>
          </a:p>
        </p:txBody>
      </p:sp>
      <p:sp>
        <p:nvSpPr>
          <p:cNvPr id="217" name="Text 13"/>
          <p:cNvSpPr txBox="1"/>
          <p:nvPr/>
        </p:nvSpPr>
        <p:spPr>
          <a:xfrm>
            <a:off x="6702551" y="4177029"/>
            <a:ext cx="1965961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6B7A90"/>
                </a:solidFill>
              </a:defRPr>
            </a:lvl1pPr>
          </a:lstStyle>
          <a:p>
            <a:r>
              <a:t>Near-zero cost per extra user turns growth directly into profit.</a:t>
            </a:r>
          </a:p>
        </p:txBody>
      </p:sp>
      <p:sp>
        <p:nvSpPr>
          <p:cNvPr id="218" name="Shape 14"/>
          <p:cNvSpPr/>
          <p:nvPr/>
        </p:nvSpPr>
        <p:spPr>
          <a:xfrm>
            <a:off x="9226295" y="1828800"/>
            <a:ext cx="2606041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1A2942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19" name="Shape 15"/>
          <p:cNvSpPr/>
          <p:nvPr/>
        </p:nvSpPr>
        <p:spPr>
          <a:xfrm>
            <a:off x="9518904" y="2148839"/>
            <a:ext cx="594361" cy="594361"/>
          </a:xfrm>
          <a:prstGeom prst="ellipse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2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0227" y="2220162"/>
            <a:ext cx="451715" cy="451715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 16"/>
          <p:cNvSpPr txBox="1"/>
          <p:nvPr/>
        </p:nvSpPr>
        <p:spPr>
          <a:xfrm>
            <a:off x="9564624" y="3042078"/>
            <a:ext cx="1965961" cy="316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800"/>
              </a:lnSpc>
              <a:defRPr sz="1500">
                <a:solidFill>
                  <a:srgbClr val="16213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Sticky demand</a:t>
            </a:r>
          </a:p>
        </p:txBody>
      </p:sp>
      <p:sp>
        <p:nvSpPr>
          <p:cNvPr id="222" name="Text 17"/>
          <p:cNvSpPr txBox="1"/>
          <p:nvPr/>
        </p:nvSpPr>
        <p:spPr>
          <a:xfrm>
            <a:off x="9564624" y="4177029"/>
            <a:ext cx="1965961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6B7A90"/>
                </a:solidFill>
              </a:defRPr>
            </a:lvl1pPr>
          </a:lstStyle>
          <a:p>
            <a:r>
              <a:t>Switching costs and habit keep customers renewing, shaping market equilibrium.</a:t>
            </a:r>
          </a:p>
        </p:txBody>
      </p:sp>
      <p:sp>
        <p:nvSpPr>
          <p:cNvPr id="223" name="Text 18"/>
          <p:cNvSpPr txBox="1"/>
          <p:nvPr/>
        </p:nvSpPr>
        <p:spPr>
          <a:xfrm>
            <a:off x="11597335" y="6469424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9B4C4"/>
                </a:solidFill>
              </a:defRPr>
            </a:lvl1pPr>
          </a:lstStyle>
          <a:p>
            <a:r>
              <a:t>09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-2011681" y="3840479"/>
            <a:ext cx="5852162" cy="5852162"/>
          </a:xfrm>
          <a:prstGeom prst="ellipse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6" name="Shape 1"/>
          <p:cNvSpPr/>
          <p:nvPr/>
        </p:nvSpPr>
        <p:spPr>
          <a:xfrm>
            <a:off x="-914401" y="4937759"/>
            <a:ext cx="3566162" cy="3566161"/>
          </a:xfrm>
          <a:prstGeom prst="ellipse">
            <a:avLst/>
          </a:prstGeom>
          <a:ln w="28575">
            <a:solidFill>
              <a:srgbClr val="16A98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7" name="Shape 2"/>
          <p:cNvSpPr/>
          <p:nvPr/>
        </p:nvSpPr>
        <p:spPr>
          <a:xfrm>
            <a:off x="5349240" y="1463039"/>
            <a:ext cx="914401" cy="914401"/>
          </a:xfrm>
          <a:prstGeom prst="ellipse">
            <a:avLst/>
          </a:prstGeom>
          <a:solidFill>
            <a:srgbClr val="FFB84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2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7" y="1572767"/>
            <a:ext cx="694945" cy="694945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Text 3"/>
          <p:cNvSpPr txBox="1"/>
          <p:nvPr/>
        </p:nvSpPr>
        <p:spPr>
          <a:xfrm>
            <a:off x="868680" y="2719070"/>
            <a:ext cx="10424161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Thank You</a:t>
            </a:r>
          </a:p>
        </p:txBody>
      </p:sp>
      <p:sp>
        <p:nvSpPr>
          <p:cNvPr id="230" name="Text 4"/>
          <p:cNvSpPr txBox="1"/>
          <p:nvPr/>
        </p:nvSpPr>
        <p:spPr>
          <a:xfrm>
            <a:off x="868680" y="3511550"/>
            <a:ext cx="104241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FFB8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Questions &amp; Discussion</a:t>
            </a:r>
          </a:p>
        </p:txBody>
      </p:sp>
      <p:sp>
        <p:nvSpPr>
          <p:cNvPr id="231" name="Text 6"/>
          <p:cNvSpPr txBox="1"/>
          <p:nvPr/>
        </p:nvSpPr>
        <p:spPr>
          <a:xfrm>
            <a:off x="11597335" y="6469424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FA3BF"/>
                </a:solidFill>
              </a:defRPr>
            </a:lvl1pPr>
          </a:lstStyle>
          <a:p>
            <a:r>
              <a:t>10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656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ExtraBold</vt:lpstr>
      <vt:lpstr>Calibri Light</vt:lpstr>
      <vt:lpstr>Calibri Medium</vt:lpstr>
      <vt:lpstr>Calibri SemiBold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Md Imtiaz</cp:lastModifiedBy>
  <cp:revision>1</cp:revision>
  <dcterms:modified xsi:type="dcterms:W3CDTF">2026-08-01T08:21:39Z</dcterms:modified>
</cp:coreProperties>
</file>